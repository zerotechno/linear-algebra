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Lst>
  <p:sldSz cx="18288000" cy="10287000"/>
  <p:notesSz cx="6858000" cy="9144000"/>
  <p:embeddedFontLst>
    <p:embeddedFont>
      <p:font typeface="Eczar Bold" panose="020B0604020202020204" charset="0"/>
      <p:regular r:id="rId8"/>
    </p:embeddedFont>
    <p:embeddedFont>
      <p:font typeface="Eczar Semi-Bold" panose="020B0604020202020204" charset="0"/>
      <p:regular r:id="rId9"/>
    </p:embeddedFont>
    <p:embeddedFont>
      <p:font typeface="Futura" panose="020B0604020202020204" charset="0"/>
      <p:regular r:id="rId10"/>
    </p:embeddedFont>
    <p:embeddedFont>
      <p:font typeface="Futura Bold" panose="020B0604020202020204" charset="0"/>
      <p:regular r:id="rId1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1128"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1.fntdata"/><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font" Target="fonts/font2.fntdata"/><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5.sv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svg"/><Relationship Id="rId7" Type="http://schemas.openxmlformats.org/officeDocument/2006/relationships/image" Target="../media/image15.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14.svg"/><Relationship Id="rId5" Type="http://schemas.openxmlformats.org/officeDocument/2006/relationships/image" Target="../media/image13.svg"/><Relationship Id="rId4" Type="http://schemas.openxmlformats.org/officeDocument/2006/relationships/image" Target="../media/image12.svg"/><Relationship Id="rId9" Type="http://schemas.openxmlformats.org/officeDocument/2006/relationships/image" Target="../media/image17.svg"/></Relationships>
</file>

<file path=ppt/slides/_rels/slide3.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svg"/><Relationship Id="rId7" Type="http://schemas.openxmlformats.org/officeDocument/2006/relationships/image" Target="../media/image17.svg"/><Relationship Id="rId2" Type="http://schemas.openxmlformats.org/officeDocument/2006/relationships/image" Target="../media/image12.svg"/><Relationship Id="rId1" Type="http://schemas.openxmlformats.org/officeDocument/2006/relationships/slideLayout" Target="../slideLayouts/slideLayout7.xml"/><Relationship Id="rId6" Type="http://schemas.openxmlformats.org/officeDocument/2006/relationships/image" Target="../media/image16.svg"/><Relationship Id="rId5" Type="http://schemas.openxmlformats.org/officeDocument/2006/relationships/image" Target="../media/image15.svg"/><Relationship Id="rId4" Type="http://schemas.openxmlformats.org/officeDocument/2006/relationships/image" Target="../media/image14.svg"/></Relationships>
</file>

<file path=ppt/slides/_rels/slide4.xml.rels><?xml version="1.0" encoding="UTF-8" standalone="yes"?>
<Relationships xmlns="http://schemas.openxmlformats.org/package/2006/relationships"><Relationship Id="rId3" Type="http://schemas.openxmlformats.org/officeDocument/2006/relationships/image" Target="../media/image19.svg"/><Relationship Id="rId7" Type="http://schemas.openxmlformats.org/officeDocument/2006/relationships/image" Target="../media/image23.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22.svg"/><Relationship Id="rId5" Type="http://schemas.openxmlformats.org/officeDocument/2006/relationships/image" Target="../media/image21.svg"/><Relationship Id="rId4" Type="http://schemas.openxmlformats.org/officeDocument/2006/relationships/image" Target="../media/image20.png"/></Relationships>
</file>

<file path=ppt/slides/_rels/slide5.xml.rels><?xml version="1.0" encoding="UTF-8" standalone="yes"?>
<Relationships xmlns="http://schemas.openxmlformats.org/package/2006/relationships"><Relationship Id="rId3" Type="http://schemas.openxmlformats.org/officeDocument/2006/relationships/image" Target="../media/image19.svg"/><Relationship Id="rId7" Type="http://schemas.openxmlformats.org/officeDocument/2006/relationships/image" Target="../media/image24.pn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23.svg"/><Relationship Id="rId5" Type="http://schemas.openxmlformats.org/officeDocument/2006/relationships/image" Target="../media/image22.svg"/><Relationship Id="rId4" Type="http://schemas.openxmlformats.org/officeDocument/2006/relationships/image" Target="../media/image21.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BEEE2"/>
        </a:solidFill>
        <a:effectLst/>
      </p:bgPr>
    </p:bg>
    <p:spTree>
      <p:nvGrpSpPr>
        <p:cNvPr id="1" name=""/>
        <p:cNvGrpSpPr/>
        <p:nvPr/>
      </p:nvGrpSpPr>
      <p:grpSpPr>
        <a:xfrm>
          <a:off x="0" y="0"/>
          <a:ext cx="0" cy="0"/>
          <a:chOff x="0" y="0"/>
          <a:chExt cx="0" cy="0"/>
        </a:xfrm>
      </p:grpSpPr>
      <p:grpSp>
        <p:nvGrpSpPr>
          <p:cNvPr id="2" name="Group 2"/>
          <p:cNvGrpSpPr/>
          <p:nvPr/>
        </p:nvGrpSpPr>
        <p:grpSpPr>
          <a:xfrm>
            <a:off x="869633" y="580900"/>
            <a:ext cx="16756729" cy="9376665"/>
            <a:chOff x="0" y="0"/>
            <a:chExt cx="22342305" cy="12502220"/>
          </a:xfrm>
        </p:grpSpPr>
        <p:sp>
          <p:nvSpPr>
            <p:cNvPr id="3" name="Freeform 3"/>
            <p:cNvSpPr/>
            <p:nvPr/>
          </p:nvSpPr>
          <p:spPr>
            <a:xfrm rot="-5400000">
              <a:off x="15568485" y="5728400"/>
              <a:ext cx="12170255" cy="1377386"/>
            </a:xfrm>
            <a:custGeom>
              <a:avLst/>
              <a:gdLst/>
              <a:ahLst/>
              <a:cxnLst/>
              <a:rect l="l" t="t" r="r" b="b"/>
              <a:pathLst>
                <a:path w="12170255" h="1377386">
                  <a:moveTo>
                    <a:pt x="0" y="0"/>
                  </a:moveTo>
                  <a:lnTo>
                    <a:pt x="12170255" y="0"/>
                  </a:lnTo>
                  <a:lnTo>
                    <a:pt x="12170255" y="1377385"/>
                  </a:lnTo>
                  <a:lnTo>
                    <a:pt x="0" y="1377385"/>
                  </a:lnTo>
                  <a:lnTo>
                    <a:pt x="0" y="0"/>
                  </a:lnTo>
                  <a:close/>
                </a:path>
              </a:pathLst>
            </a:custGeom>
            <a:blipFill>
              <a:blip>
                <a:extLst>
                  <a:ext uri="{96DAC541-7B7A-43D3-8B79-37D633B846F1}">
                    <asvg:svgBlip xmlns:asvg="http://schemas.microsoft.com/office/drawing/2016/SVG/main" r:embed="rId2"/>
                  </a:ext>
                </a:extLst>
              </a:blip>
              <a:stretch>
                <a:fillRect l="-1740" r="-3116" b="-1071"/>
              </a:stretch>
            </a:blipFill>
          </p:spPr>
          <p:txBody>
            <a:bodyPr/>
            <a:lstStyle/>
            <a:p>
              <a:endParaRPr lang="en-PH"/>
            </a:p>
          </p:txBody>
        </p:sp>
        <p:sp>
          <p:nvSpPr>
            <p:cNvPr id="4" name="Freeform 4"/>
            <p:cNvSpPr/>
            <p:nvPr/>
          </p:nvSpPr>
          <p:spPr>
            <a:xfrm>
              <a:off x="0" y="10012304"/>
              <a:ext cx="22064978" cy="2439116"/>
            </a:xfrm>
            <a:custGeom>
              <a:avLst/>
              <a:gdLst/>
              <a:ahLst/>
              <a:cxnLst/>
              <a:rect l="l" t="t" r="r" b="b"/>
              <a:pathLst>
                <a:path w="22064978" h="2439116">
                  <a:moveTo>
                    <a:pt x="0" y="0"/>
                  </a:moveTo>
                  <a:lnTo>
                    <a:pt x="22064978" y="0"/>
                  </a:lnTo>
                  <a:lnTo>
                    <a:pt x="22064978" y="2439116"/>
                  </a:lnTo>
                  <a:lnTo>
                    <a:pt x="0" y="2439116"/>
                  </a:lnTo>
                  <a:lnTo>
                    <a:pt x="0" y="0"/>
                  </a:lnTo>
                  <a:close/>
                </a:path>
              </a:pathLst>
            </a:custGeom>
            <a:blipFill>
              <a:blip>
                <a:extLst>
                  <a:ext uri="{96DAC541-7B7A-43D3-8B79-37D633B846F1}">
                    <asvg:svgBlip xmlns:asvg="http://schemas.microsoft.com/office/drawing/2016/SVG/main" r:embed="rId2"/>
                  </a:ext>
                </a:extLst>
              </a:blip>
              <a:stretch>
                <a:fillRect r="-1330"/>
              </a:stretch>
            </a:blipFill>
          </p:spPr>
          <p:txBody>
            <a:bodyPr/>
            <a:lstStyle/>
            <a:p>
              <a:endParaRPr lang="en-PH"/>
            </a:p>
          </p:txBody>
        </p:sp>
        <p:grpSp>
          <p:nvGrpSpPr>
            <p:cNvPr id="5" name="Group 5"/>
            <p:cNvGrpSpPr/>
            <p:nvPr/>
          </p:nvGrpSpPr>
          <p:grpSpPr>
            <a:xfrm>
              <a:off x="0" y="0"/>
              <a:ext cx="22064978" cy="12166932"/>
              <a:chOff x="0" y="0"/>
              <a:chExt cx="29615129" cy="16330189"/>
            </a:xfrm>
          </p:grpSpPr>
          <p:sp>
            <p:nvSpPr>
              <p:cNvPr id="6" name="Freeform 6"/>
              <p:cNvSpPr/>
              <p:nvPr/>
            </p:nvSpPr>
            <p:spPr>
              <a:xfrm>
                <a:off x="-91" y="-43"/>
                <a:ext cx="29615095" cy="16330360"/>
              </a:xfrm>
              <a:custGeom>
                <a:avLst/>
                <a:gdLst/>
                <a:ahLst/>
                <a:cxnLst/>
                <a:rect l="l" t="t" r="r" b="b"/>
                <a:pathLst>
                  <a:path w="29615095" h="16330360">
                    <a:moveTo>
                      <a:pt x="29569120" y="14250734"/>
                    </a:moveTo>
                    <a:cubicBezTo>
                      <a:pt x="29572801" y="14394879"/>
                      <a:pt x="29579532" y="14538898"/>
                      <a:pt x="29579659" y="14683168"/>
                    </a:cubicBezTo>
                    <a:cubicBezTo>
                      <a:pt x="29579913" y="14942503"/>
                      <a:pt x="29557180" y="15206537"/>
                      <a:pt x="29458122" y="15448725"/>
                    </a:cubicBezTo>
                    <a:cubicBezTo>
                      <a:pt x="29371762" y="15660053"/>
                      <a:pt x="29231553" y="15849919"/>
                      <a:pt x="29030257" y="15963710"/>
                    </a:cubicBezTo>
                    <a:cubicBezTo>
                      <a:pt x="28806612" y="16090075"/>
                      <a:pt x="28542578" y="16117000"/>
                      <a:pt x="28290355" y="16124366"/>
                    </a:cubicBezTo>
                    <a:cubicBezTo>
                      <a:pt x="28004859" y="16132621"/>
                      <a:pt x="27719491" y="16113698"/>
                      <a:pt x="27434122" y="16111666"/>
                    </a:cubicBezTo>
                    <a:cubicBezTo>
                      <a:pt x="18731786" y="16110650"/>
                      <a:pt x="6464309" y="16113825"/>
                      <a:pt x="2844637" y="16126905"/>
                    </a:cubicBezTo>
                    <a:cubicBezTo>
                      <a:pt x="2701508" y="16140114"/>
                      <a:pt x="2561173" y="16166021"/>
                      <a:pt x="2421727" y="16200693"/>
                    </a:cubicBezTo>
                    <a:cubicBezTo>
                      <a:pt x="2284694" y="16234728"/>
                      <a:pt x="2148677" y="16273718"/>
                      <a:pt x="2009739" y="16299371"/>
                    </a:cubicBezTo>
                    <a:cubicBezTo>
                      <a:pt x="1873087" y="16324643"/>
                      <a:pt x="1734276" y="16335313"/>
                      <a:pt x="1595465" y="16328200"/>
                    </a:cubicBezTo>
                    <a:cubicBezTo>
                      <a:pt x="1348069" y="16315373"/>
                      <a:pt x="1099657" y="16251746"/>
                      <a:pt x="884773" y="16126525"/>
                    </a:cubicBezTo>
                    <a:cubicBezTo>
                      <a:pt x="674461" y="16003968"/>
                      <a:pt x="513933" y="15825026"/>
                      <a:pt x="420080" y="15600237"/>
                    </a:cubicBezTo>
                    <a:cubicBezTo>
                      <a:pt x="369915" y="15479968"/>
                      <a:pt x="336768" y="15353602"/>
                      <a:pt x="306034" y="15227238"/>
                    </a:cubicBezTo>
                    <a:cubicBezTo>
                      <a:pt x="274792" y="15098459"/>
                      <a:pt x="247868" y="14969046"/>
                      <a:pt x="229834" y="14837728"/>
                    </a:cubicBezTo>
                    <a:cubicBezTo>
                      <a:pt x="197576" y="14603159"/>
                      <a:pt x="192877" y="14367067"/>
                      <a:pt x="190845" y="14130593"/>
                    </a:cubicBezTo>
                    <a:cubicBezTo>
                      <a:pt x="188813" y="11837643"/>
                      <a:pt x="191861" y="3023769"/>
                      <a:pt x="158841" y="2566205"/>
                    </a:cubicBezTo>
                    <a:cubicBezTo>
                      <a:pt x="127345" y="2342939"/>
                      <a:pt x="78069" y="2122594"/>
                      <a:pt x="42128" y="1899963"/>
                    </a:cubicBezTo>
                    <a:cubicBezTo>
                      <a:pt x="24475" y="1791124"/>
                      <a:pt x="9235" y="1681523"/>
                      <a:pt x="2504" y="1571414"/>
                    </a:cubicBezTo>
                    <a:cubicBezTo>
                      <a:pt x="-4227" y="1463083"/>
                      <a:pt x="3520" y="1357292"/>
                      <a:pt x="14950" y="1249469"/>
                    </a:cubicBezTo>
                    <a:cubicBezTo>
                      <a:pt x="42001" y="993691"/>
                      <a:pt x="89372" y="732198"/>
                      <a:pt x="229199" y="511853"/>
                    </a:cubicBezTo>
                    <a:cubicBezTo>
                      <a:pt x="291683" y="413301"/>
                      <a:pt x="370677" y="325417"/>
                      <a:pt x="466562" y="258361"/>
                    </a:cubicBezTo>
                    <a:cubicBezTo>
                      <a:pt x="568924" y="186733"/>
                      <a:pt x="689066" y="146093"/>
                      <a:pt x="810859" y="122217"/>
                    </a:cubicBezTo>
                    <a:cubicBezTo>
                      <a:pt x="942050" y="96563"/>
                      <a:pt x="1076162" y="85768"/>
                      <a:pt x="1209131" y="71671"/>
                    </a:cubicBezTo>
                    <a:cubicBezTo>
                      <a:pt x="1353911" y="56304"/>
                      <a:pt x="1498945" y="41699"/>
                      <a:pt x="1643979" y="29634"/>
                    </a:cubicBezTo>
                    <a:cubicBezTo>
                      <a:pt x="1936333" y="5377"/>
                      <a:pt x="2229957" y="-7958"/>
                      <a:pt x="2523200" y="5123"/>
                    </a:cubicBezTo>
                    <a:cubicBezTo>
                      <a:pt x="2523454" y="5123"/>
                      <a:pt x="2523581" y="5123"/>
                      <a:pt x="2523708" y="5123"/>
                    </a:cubicBezTo>
                    <a:cubicBezTo>
                      <a:pt x="2805394" y="3599"/>
                      <a:pt x="14905732" y="36365"/>
                      <a:pt x="27527468" y="65575"/>
                    </a:cubicBezTo>
                    <a:cubicBezTo>
                      <a:pt x="27649132" y="78275"/>
                      <a:pt x="27771053" y="88816"/>
                      <a:pt x="27893226" y="94150"/>
                    </a:cubicBezTo>
                    <a:cubicBezTo>
                      <a:pt x="27993685" y="98468"/>
                      <a:pt x="28094903" y="102278"/>
                      <a:pt x="28195232" y="92626"/>
                    </a:cubicBezTo>
                    <a:cubicBezTo>
                      <a:pt x="28389161" y="73703"/>
                      <a:pt x="28582963" y="42588"/>
                      <a:pt x="28778418" y="51351"/>
                    </a:cubicBezTo>
                    <a:cubicBezTo>
                      <a:pt x="28872397" y="55542"/>
                      <a:pt x="28965616" y="69512"/>
                      <a:pt x="29051722" y="108882"/>
                    </a:cubicBezTo>
                    <a:cubicBezTo>
                      <a:pt x="29140241" y="149395"/>
                      <a:pt x="29216314" y="214546"/>
                      <a:pt x="29276639" y="290365"/>
                    </a:cubicBezTo>
                    <a:cubicBezTo>
                      <a:pt x="29406178" y="453052"/>
                      <a:pt x="29475393" y="656633"/>
                      <a:pt x="29521874" y="856912"/>
                    </a:cubicBezTo>
                    <a:cubicBezTo>
                      <a:pt x="29552355" y="990262"/>
                      <a:pt x="29574072" y="1125263"/>
                      <a:pt x="29588803" y="1261280"/>
                    </a:cubicBezTo>
                    <a:cubicBezTo>
                      <a:pt x="29650145" y="1829224"/>
                      <a:pt x="29587153" y="2400089"/>
                      <a:pt x="29570516" y="9240359"/>
                    </a:cubicBezTo>
                    <a:cubicBezTo>
                      <a:pt x="29566578" y="13966381"/>
                      <a:pt x="29565564" y="14108493"/>
                      <a:pt x="29569120" y="14250734"/>
                    </a:cubicBezTo>
                    <a:close/>
                  </a:path>
                </a:pathLst>
              </a:custGeom>
              <a:solidFill>
                <a:srgbClr val="284D15"/>
              </a:solidFill>
            </p:spPr>
            <p:txBody>
              <a:bodyPr/>
              <a:lstStyle/>
              <a:p>
                <a:endParaRPr lang="en-PH"/>
              </a:p>
            </p:txBody>
          </p:sp>
        </p:grpSp>
      </p:grpSp>
      <p:sp>
        <p:nvSpPr>
          <p:cNvPr id="7" name="Freeform 7"/>
          <p:cNvSpPr/>
          <p:nvPr/>
        </p:nvSpPr>
        <p:spPr>
          <a:xfrm rot="-2259030">
            <a:off x="17334817" y="2722011"/>
            <a:ext cx="1086183" cy="5381986"/>
          </a:xfrm>
          <a:custGeom>
            <a:avLst/>
            <a:gdLst/>
            <a:ahLst/>
            <a:cxnLst/>
            <a:rect l="l" t="t" r="r" b="b"/>
            <a:pathLst>
              <a:path w="1086183" h="5381986">
                <a:moveTo>
                  <a:pt x="0" y="0"/>
                </a:moveTo>
                <a:lnTo>
                  <a:pt x="1086182" y="0"/>
                </a:lnTo>
                <a:lnTo>
                  <a:pt x="1086182" y="5381986"/>
                </a:lnTo>
                <a:lnTo>
                  <a:pt x="0" y="538198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PH"/>
          </a:p>
        </p:txBody>
      </p:sp>
      <p:sp>
        <p:nvSpPr>
          <p:cNvPr id="8" name="Freeform 8"/>
          <p:cNvSpPr/>
          <p:nvPr/>
        </p:nvSpPr>
        <p:spPr>
          <a:xfrm rot="-676188">
            <a:off x="14351990" y="1172397"/>
            <a:ext cx="1631230" cy="1628264"/>
          </a:xfrm>
          <a:custGeom>
            <a:avLst/>
            <a:gdLst/>
            <a:ahLst/>
            <a:cxnLst/>
            <a:rect l="l" t="t" r="r" b="b"/>
            <a:pathLst>
              <a:path w="1631230" h="1628264">
                <a:moveTo>
                  <a:pt x="0" y="0"/>
                </a:moveTo>
                <a:lnTo>
                  <a:pt x="1631230" y="0"/>
                </a:lnTo>
                <a:lnTo>
                  <a:pt x="1631230" y="1628264"/>
                </a:lnTo>
                <a:lnTo>
                  <a:pt x="0" y="162826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PH"/>
          </a:p>
        </p:txBody>
      </p:sp>
      <p:sp>
        <p:nvSpPr>
          <p:cNvPr id="9" name="Freeform 9"/>
          <p:cNvSpPr/>
          <p:nvPr/>
        </p:nvSpPr>
        <p:spPr>
          <a:xfrm flipV="1">
            <a:off x="14859930" y="6892612"/>
            <a:ext cx="4274880" cy="1651172"/>
          </a:xfrm>
          <a:custGeom>
            <a:avLst/>
            <a:gdLst/>
            <a:ahLst/>
            <a:cxnLst/>
            <a:rect l="l" t="t" r="r" b="b"/>
            <a:pathLst>
              <a:path w="4274880" h="1651172">
                <a:moveTo>
                  <a:pt x="0" y="1651172"/>
                </a:moveTo>
                <a:lnTo>
                  <a:pt x="4274881" y="1651172"/>
                </a:lnTo>
                <a:lnTo>
                  <a:pt x="4274881" y="0"/>
                </a:lnTo>
                <a:lnTo>
                  <a:pt x="0" y="0"/>
                </a:lnTo>
                <a:lnTo>
                  <a:pt x="0" y="1651172"/>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PH"/>
          </a:p>
        </p:txBody>
      </p:sp>
      <p:sp>
        <p:nvSpPr>
          <p:cNvPr id="10" name="Freeform 10"/>
          <p:cNvSpPr/>
          <p:nvPr/>
        </p:nvSpPr>
        <p:spPr>
          <a:xfrm rot="2451105">
            <a:off x="84886" y="3065203"/>
            <a:ext cx="1779930" cy="3839066"/>
          </a:xfrm>
          <a:custGeom>
            <a:avLst/>
            <a:gdLst/>
            <a:ahLst/>
            <a:cxnLst/>
            <a:rect l="l" t="t" r="r" b="b"/>
            <a:pathLst>
              <a:path w="1779930" h="3839066">
                <a:moveTo>
                  <a:pt x="0" y="0"/>
                </a:moveTo>
                <a:lnTo>
                  <a:pt x="1779931" y="0"/>
                </a:lnTo>
                <a:lnTo>
                  <a:pt x="1779931" y="3839066"/>
                </a:lnTo>
                <a:lnTo>
                  <a:pt x="0" y="3839066"/>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PH"/>
          </a:p>
        </p:txBody>
      </p:sp>
      <p:sp>
        <p:nvSpPr>
          <p:cNvPr id="11" name="Freeform 11"/>
          <p:cNvSpPr/>
          <p:nvPr/>
        </p:nvSpPr>
        <p:spPr>
          <a:xfrm rot="-1601204">
            <a:off x="587096" y="6540318"/>
            <a:ext cx="2194613" cy="3262262"/>
          </a:xfrm>
          <a:custGeom>
            <a:avLst/>
            <a:gdLst/>
            <a:ahLst/>
            <a:cxnLst/>
            <a:rect l="l" t="t" r="r" b="b"/>
            <a:pathLst>
              <a:path w="2194613" h="3262262">
                <a:moveTo>
                  <a:pt x="0" y="0"/>
                </a:moveTo>
                <a:lnTo>
                  <a:pt x="2194612" y="0"/>
                </a:lnTo>
                <a:lnTo>
                  <a:pt x="2194612" y="3262262"/>
                </a:lnTo>
                <a:lnTo>
                  <a:pt x="0" y="3262262"/>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PH"/>
          </a:p>
        </p:txBody>
      </p:sp>
      <p:grpSp>
        <p:nvGrpSpPr>
          <p:cNvPr id="12" name="Group 12"/>
          <p:cNvGrpSpPr/>
          <p:nvPr/>
        </p:nvGrpSpPr>
        <p:grpSpPr>
          <a:xfrm>
            <a:off x="2265400" y="3614685"/>
            <a:ext cx="13965196" cy="2932443"/>
            <a:chOff x="0" y="95250"/>
            <a:chExt cx="18620261" cy="3909924"/>
          </a:xfrm>
        </p:grpSpPr>
        <p:sp>
          <p:nvSpPr>
            <p:cNvPr id="13" name="TextBox 13"/>
            <p:cNvSpPr txBox="1"/>
            <p:nvPr/>
          </p:nvSpPr>
          <p:spPr>
            <a:xfrm>
              <a:off x="0" y="95250"/>
              <a:ext cx="18620261" cy="2135717"/>
            </a:xfrm>
            <a:prstGeom prst="rect">
              <a:avLst/>
            </a:prstGeom>
          </p:spPr>
          <p:txBody>
            <a:bodyPr lIns="0" tIns="0" rIns="0" bIns="0" rtlCol="0" anchor="t">
              <a:spAutoFit/>
            </a:bodyPr>
            <a:lstStyle/>
            <a:p>
              <a:pPr marL="0" lvl="0" indent="0" algn="ctr">
                <a:lnSpc>
                  <a:spcPts val="12100"/>
                </a:lnSpc>
                <a:spcBef>
                  <a:spcPct val="0"/>
                </a:spcBef>
              </a:pPr>
              <a:r>
                <a:rPr lang="en-US" sz="11000" b="1">
                  <a:solidFill>
                    <a:srgbClr val="FBEEE2"/>
                  </a:solidFill>
                  <a:latin typeface="Eczar Bold"/>
                  <a:ea typeface="Eczar Bold"/>
                  <a:cs typeface="Eczar Bold"/>
                  <a:sym typeface="Eczar Bold"/>
                </a:rPr>
                <a:t>Inverse Matrix</a:t>
              </a:r>
            </a:p>
          </p:txBody>
        </p:sp>
        <p:sp>
          <p:nvSpPr>
            <p:cNvPr id="14" name="TextBox 14"/>
            <p:cNvSpPr txBox="1"/>
            <p:nvPr/>
          </p:nvSpPr>
          <p:spPr>
            <a:xfrm>
              <a:off x="3369476" y="2173817"/>
              <a:ext cx="11558053" cy="1831357"/>
            </a:xfrm>
            <a:prstGeom prst="rect">
              <a:avLst/>
            </a:prstGeom>
          </p:spPr>
          <p:txBody>
            <a:bodyPr lIns="0" tIns="0" rIns="0" bIns="0" rtlCol="0" anchor="t">
              <a:spAutoFit/>
            </a:bodyPr>
            <a:lstStyle/>
            <a:p>
              <a:pPr algn="ctr">
                <a:lnSpc>
                  <a:spcPts val="3673"/>
                </a:lnSpc>
              </a:pPr>
              <a:endParaRPr lang="en-US" sz="3060" dirty="0">
                <a:solidFill>
                  <a:srgbClr val="FBEEE2"/>
                </a:solidFill>
                <a:latin typeface="Futura"/>
                <a:ea typeface="Futura"/>
                <a:cs typeface="Futura"/>
                <a:sym typeface="Futura"/>
              </a:endParaRPr>
            </a:p>
            <a:p>
              <a:pPr algn="ctr">
                <a:lnSpc>
                  <a:spcPts val="3673"/>
                </a:lnSpc>
              </a:pPr>
              <a:r>
                <a:rPr lang="en-US" sz="3060" dirty="0" err="1">
                  <a:solidFill>
                    <a:srgbClr val="FBEEE2"/>
                  </a:solidFill>
                  <a:latin typeface="Futura"/>
                  <a:ea typeface="Futura"/>
                  <a:cs typeface="Futura"/>
                  <a:sym typeface="Futura"/>
                </a:rPr>
                <a:t>ZeroTechno</a:t>
              </a:r>
              <a:endParaRPr lang="en-US" sz="3060" dirty="0">
                <a:solidFill>
                  <a:srgbClr val="FBEEE2"/>
                </a:solidFill>
                <a:latin typeface="Futura"/>
                <a:ea typeface="Futura"/>
                <a:cs typeface="Futura"/>
                <a:sym typeface="Futura"/>
              </a:endParaRPr>
            </a:p>
            <a:p>
              <a:pPr algn="ctr">
                <a:lnSpc>
                  <a:spcPts val="3673"/>
                </a:lnSpc>
              </a:pPr>
              <a:endParaRPr lang="en-US" sz="3060" dirty="0">
                <a:solidFill>
                  <a:srgbClr val="FBEEE2"/>
                </a:solidFill>
                <a:latin typeface="Futura"/>
                <a:ea typeface="Futura"/>
                <a:cs typeface="Futura"/>
                <a:sym typeface="Futura"/>
              </a:endParaRPr>
            </a:p>
          </p:txBody>
        </p:sp>
      </p:grpSp>
      <p:sp>
        <p:nvSpPr>
          <p:cNvPr id="15" name="Freeform 15"/>
          <p:cNvSpPr/>
          <p:nvPr/>
        </p:nvSpPr>
        <p:spPr>
          <a:xfrm rot="-874701">
            <a:off x="-3476966" y="1482308"/>
            <a:ext cx="7400097" cy="1857939"/>
          </a:xfrm>
          <a:custGeom>
            <a:avLst/>
            <a:gdLst/>
            <a:ahLst/>
            <a:cxnLst/>
            <a:rect l="l" t="t" r="r" b="b"/>
            <a:pathLst>
              <a:path w="7400097" h="1857939">
                <a:moveTo>
                  <a:pt x="0" y="0"/>
                </a:moveTo>
                <a:lnTo>
                  <a:pt x="7400097" y="0"/>
                </a:lnTo>
                <a:lnTo>
                  <a:pt x="7400097" y="1857939"/>
                </a:lnTo>
                <a:lnTo>
                  <a:pt x="0" y="1857939"/>
                </a:lnTo>
                <a:lnTo>
                  <a:pt x="0" y="0"/>
                </a:lnTo>
                <a:close/>
              </a:path>
            </a:pathLst>
          </a:custGeom>
          <a:blipFill>
            <a:blip>
              <a:extLst>
                <a:ext uri="{96DAC541-7B7A-43D3-8B79-37D633B846F1}">
                  <asvg:svgBlip xmlns:asvg="http://schemas.microsoft.com/office/drawing/2016/SVG/main" r:embed="rId8"/>
                </a:ext>
              </a:extLst>
            </a:blip>
            <a:stretch>
              <a:fillRect r="-74795"/>
            </a:stretch>
          </a:blipFill>
        </p:spPr>
        <p:txBody>
          <a:bodyPr/>
          <a:lstStyle/>
          <a:p>
            <a:endParaRPr lang="en-PH"/>
          </a:p>
        </p:txBody>
      </p:sp>
      <p:sp>
        <p:nvSpPr>
          <p:cNvPr id="16" name="Freeform 16"/>
          <p:cNvSpPr/>
          <p:nvPr/>
        </p:nvSpPr>
        <p:spPr>
          <a:xfrm rot="1330028">
            <a:off x="13064029" y="252321"/>
            <a:ext cx="1082901" cy="1902861"/>
          </a:xfrm>
          <a:custGeom>
            <a:avLst/>
            <a:gdLst/>
            <a:ahLst/>
            <a:cxnLst/>
            <a:rect l="l" t="t" r="r" b="b"/>
            <a:pathLst>
              <a:path w="1082901" h="1902861">
                <a:moveTo>
                  <a:pt x="0" y="0"/>
                </a:moveTo>
                <a:lnTo>
                  <a:pt x="1082901" y="0"/>
                </a:lnTo>
                <a:lnTo>
                  <a:pt x="1082901" y="1902861"/>
                </a:lnTo>
                <a:lnTo>
                  <a:pt x="0" y="1902861"/>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n-PH"/>
          </a:p>
        </p:txBody>
      </p:sp>
      <p:sp>
        <p:nvSpPr>
          <p:cNvPr id="17" name="Freeform 17"/>
          <p:cNvSpPr/>
          <p:nvPr/>
        </p:nvSpPr>
        <p:spPr>
          <a:xfrm rot="-161725">
            <a:off x="3993506" y="883486"/>
            <a:ext cx="2993274" cy="1814673"/>
          </a:xfrm>
          <a:custGeom>
            <a:avLst/>
            <a:gdLst/>
            <a:ahLst/>
            <a:cxnLst/>
            <a:rect l="l" t="t" r="r" b="b"/>
            <a:pathLst>
              <a:path w="2993274" h="1814673">
                <a:moveTo>
                  <a:pt x="0" y="0"/>
                </a:moveTo>
                <a:lnTo>
                  <a:pt x="2993274" y="0"/>
                </a:lnTo>
                <a:lnTo>
                  <a:pt x="2993274" y="1814672"/>
                </a:lnTo>
                <a:lnTo>
                  <a:pt x="0" y="1814672"/>
                </a:lnTo>
                <a:lnTo>
                  <a:pt x="0" y="0"/>
                </a:lnTo>
                <a:close/>
              </a:path>
            </a:pathLst>
          </a:custGeom>
          <a:blipFill>
            <a:blip>
              <a:extLst>
                <a:ext uri="{96DAC541-7B7A-43D3-8B79-37D633B846F1}">
                  <asvg:svgBlip xmlns:asvg="http://schemas.microsoft.com/office/drawing/2016/SVG/main" r:embed="rId10"/>
                </a:ext>
              </a:extLst>
            </a:blip>
            <a:stretch>
              <a:fillRect/>
            </a:stretch>
          </a:blipFill>
        </p:spPr>
        <p:txBody>
          <a:bodyPr/>
          <a:lstStyle/>
          <a:p>
            <a:endParaRPr lang="en-PH"/>
          </a:p>
        </p:txBody>
      </p:sp>
      <p:sp>
        <p:nvSpPr>
          <p:cNvPr id="18" name="Freeform 18"/>
          <p:cNvSpPr/>
          <p:nvPr/>
        </p:nvSpPr>
        <p:spPr>
          <a:xfrm rot="-1051724" flipH="1">
            <a:off x="13546627" y="-6148"/>
            <a:ext cx="5758499" cy="2648910"/>
          </a:xfrm>
          <a:custGeom>
            <a:avLst/>
            <a:gdLst/>
            <a:ahLst/>
            <a:cxnLst/>
            <a:rect l="l" t="t" r="r" b="b"/>
            <a:pathLst>
              <a:path w="5758499" h="2648910">
                <a:moveTo>
                  <a:pt x="5758499" y="0"/>
                </a:moveTo>
                <a:lnTo>
                  <a:pt x="0" y="0"/>
                </a:lnTo>
                <a:lnTo>
                  <a:pt x="0" y="2648909"/>
                </a:lnTo>
                <a:lnTo>
                  <a:pt x="5758499" y="2648909"/>
                </a:lnTo>
                <a:lnTo>
                  <a:pt x="5758499" y="0"/>
                </a:lnTo>
                <a:close/>
              </a:path>
            </a:pathLst>
          </a:custGeom>
          <a:blipFill>
            <a:blip>
              <a:extLst>
                <a:ext uri="{96DAC541-7B7A-43D3-8B79-37D633B846F1}">
                  <asvg:svgBlip xmlns:asvg="http://schemas.microsoft.com/office/drawing/2016/SVG/main" r:embed="rId11"/>
                </a:ext>
              </a:extLst>
            </a:blip>
            <a:stretch>
              <a:fillRect/>
            </a:stretch>
          </a:blipFill>
        </p:spPr>
        <p:txBody>
          <a:bodyPr/>
          <a:lstStyle/>
          <a:p>
            <a:endParaRPr lang="en-PH"/>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BEEE2"/>
        </a:solidFill>
        <a:effectLst/>
      </p:bgPr>
    </p:bg>
    <p:spTree>
      <p:nvGrpSpPr>
        <p:cNvPr id="1" name=""/>
        <p:cNvGrpSpPr/>
        <p:nvPr/>
      </p:nvGrpSpPr>
      <p:grpSpPr>
        <a:xfrm>
          <a:off x="0" y="0"/>
          <a:ext cx="0" cy="0"/>
          <a:chOff x="0" y="0"/>
          <a:chExt cx="0" cy="0"/>
        </a:xfrm>
      </p:grpSpPr>
      <p:grpSp>
        <p:nvGrpSpPr>
          <p:cNvPr id="2" name="Group 2"/>
          <p:cNvGrpSpPr/>
          <p:nvPr/>
        </p:nvGrpSpPr>
        <p:grpSpPr>
          <a:xfrm>
            <a:off x="653433" y="2125696"/>
            <a:ext cx="16935902" cy="7367824"/>
            <a:chOff x="0" y="0"/>
            <a:chExt cx="22581203" cy="9823765"/>
          </a:xfrm>
        </p:grpSpPr>
        <p:sp>
          <p:nvSpPr>
            <p:cNvPr id="3" name="Freeform 3"/>
            <p:cNvSpPr/>
            <p:nvPr/>
          </p:nvSpPr>
          <p:spPr>
            <a:xfrm>
              <a:off x="0" y="7327585"/>
              <a:ext cx="22581203" cy="2496181"/>
            </a:xfrm>
            <a:custGeom>
              <a:avLst/>
              <a:gdLst/>
              <a:ahLst/>
              <a:cxnLst/>
              <a:rect l="l" t="t" r="r" b="b"/>
              <a:pathLst>
                <a:path w="22581203" h="2496181">
                  <a:moveTo>
                    <a:pt x="0" y="0"/>
                  </a:moveTo>
                  <a:lnTo>
                    <a:pt x="22581203" y="0"/>
                  </a:lnTo>
                  <a:lnTo>
                    <a:pt x="22581203" y="2496180"/>
                  </a:lnTo>
                  <a:lnTo>
                    <a:pt x="0" y="2496180"/>
                  </a:lnTo>
                  <a:lnTo>
                    <a:pt x="0" y="0"/>
                  </a:lnTo>
                  <a:close/>
                </a:path>
              </a:pathLst>
            </a:custGeom>
            <a:blipFill>
              <a:blip>
                <a:extLst>
                  <a:ext uri="{96DAC541-7B7A-43D3-8B79-37D633B846F1}">
                    <asvg:svgBlip xmlns:asvg="http://schemas.microsoft.com/office/drawing/2016/SVG/main" r:embed="rId2"/>
                  </a:ext>
                </a:extLst>
              </a:blip>
              <a:stretch>
                <a:fillRect r="-1330"/>
              </a:stretch>
            </a:blipFill>
          </p:spPr>
          <p:txBody>
            <a:bodyPr/>
            <a:lstStyle/>
            <a:p>
              <a:endParaRPr lang="en-PH"/>
            </a:p>
          </p:txBody>
        </p:sp>
        <p:grpSp>
          <p:nvGrpSpPr>
            <p:cNvPr id="4" name="Group 4"/>
            <p:cNvGrpSpPr/>
            <p:nvPr/>
          </p:nvGrpSpPr>
          <p:grpSpPr>
            <a:xfrm>
              <a:off x="0" y="0"/>
              <a:ext cx="22581203" cy="9489634"/>
              <a:chOff x="0" y="0"/>
              <a:chExt cx="32820792" cy="13792768"/>
            </a:xfrm>
          </p:grpSpPr>
          <p:sp>
            <p:nvSpPr>
              <p:cNvPr id="5" name="Freeform 5"/>
              <p:cNvSpPr/>
              <p:nvPr/>
            </p:nvSpPr>
            <p:spPr>
              <a:xfrm>
                <a:off x="-91" y="-43"/>
                <a:ext cx="32820759" cy="13792939"/>
              </a:xfrm>
              <a:custGeom>
                <a:avLst/>
                <a:gdLst/>
                <a:ahLst/>
                <a:cxnLst/>
                <a:rect l="l" t="t" r="r" b="b"/>
                <a:pathLst>
                  <a:path w="32820759" h="13792939">
                    <a:moveTo>
                      <a:pt x="32774782" y="11713313"/>
                    </a:moveTo>
                    <a:cubicBezTo>
                      <a:pt x="32778465" y="11857458"/>
                      <a:pt x="32785197" y="12001476"/>
                      <a:pt x="32785324" y="12145748"/>
                    </a:cubicBezTo>
                    <a:cubicBezTo>
                      <a:pt x="32785578" y="12405082"/>
                      <a:pt x="32762845" y="12669115"/>
                      <a:pt x="32663784" y="12911304"/>
                    </a:cubicBezTo>
                    <a:cubicBezTo>
                      <a:pt x="32577423" y="13122633"/>
                      <a:pt x="32437215" y="13312497"/>
                      <a:pt x="32235922" y="13426289"/>
                    </a:cubicBezTo>
                    <a:cubicBezTo>
                      <a:pt x="32012273" y="13552655"/>
                      <a:pt x="31748240" y="13579578"/>
                      <a:pt x="31496020" y="13586944"/>
                    </a:cubicBezTo>
                    <a:cubicBezTo>
                      <a:pt x="31210524" y="13595199"/>
                      <a:pt x="30925155" y="13576276"/>
                      <a:pt x="30639787" y="13574244"/>
                    </a:cubicBezTo>
                    <a:cubicBezTo>
                      <a:pt x="20801812" y="13573228"/>
                      <a:pt x="6925753" y="13576403"/>
                      <a:pt x="2844637" y="13589485"/>
                    </a:cubicBezTo>
                    <a:cubicBezTo>
                      <a:pt x="2701508" y="13602692"/>
                      <a:pt x="2561173" y="13628600"/>
                      <a:pt x="2421727" y="13663271"/>
                    </a:cubicBezTo>
                    <a:cubicBezTo>
                      <a:pt x="2284694" y="13697308"/>
                      <a:pt x="2148677" y="13736296"/>
                      <a:pt x="2009739" y="13761950"/>
                    </a:cubicBezTo>
                    <a:cubicBezTo>
                      <a:pt x="1873087" y="13787223"/>
                      <a:pt x="1734276" y="13797891"/>
                      <a:pt x="1595465" y="13790780"/>
                    </a:cubicBezTo>
                    <a:cubicBezTo>
                      <a:pt x="1348069" y="13777952"/>
                      <a:pt x="1099657" y="13714325"/>
                      <a:pt x="884773" y="13589103"/>
                    </a:cubicBezTo>
                    <a:cubicBezTo>
                      <a:pt x="674461" y="13466548"/>
                      <a:pt x="513933" y="13287606"/>
                      <a:pt x="420080" y="13062815"/>
                    </a:cubicBezTo>
                    <a:cubicBezTo>
                      <a:pt x="369915" y="12942546"/>
                      <a:pt x="336768" y="12816181"/>
                      <a:pt x="306034" y="12689816"/>
                    </a:cubicBezTo>
                    <a:cubicBezTo>
                      <a:pt x="274792" y="12561038"/>
                      <a:pt x="247868" y="12431625"/>
                      <a:pt x="229834" y="12300307"/>
                    </a:cubicBezTo>
                    <a:cubicBezTo>
                      <a:pt x="197576" y="12065738"/>
                      <a:pt x="192877" y="11829645"/>
                      <a:pt x="190845" y="11593171"/>
                    </a:cubicBezTo>
                    <a:cubicBezTo>
                      <a:pt x="188813" y="9781051"/>
                      <a:pt x="191861" y="2971527"/>
                      <a:pt x="158841" y="2566205"/>
                    </a:cubicBezTo>
                    <a:cubicBezTo>
                      <a:pt x="127345" y="2342939"/>
                      <a:pt x="78069" y="2122594"/>
                      <a:pt x="42128" y="1899963"/>
                    </a:cubicBezTo>
                    <a:cubicBezTo>
                      <a:pt x="24475" y="1791124"/>
                      <a:pt x="9235" y="1681523"/>
                      <a:pt x="2504" y="1571414"/>
                    </a:cubicBezTo>
                    <a:cubicBezTo>
                      <a:pt x="-4227" y="1463083"/>
                      <a:pt x="3520" y="1357292"/>
                      <a:pt x="14950" y="1249469"/>
                    </a:cubicBezTo>
                    <a:cubicBezTo>
                      <a:pt x="42001" y="993691"/>
                      <a:pt x="89372" y="732198"/>
                      <a:pt x="229199" y="511853"/>
                    </a:cubicBezTo>
                    <a:cubicBezTo>
                      <a:pt x="291683" y="413301"/>
                      <a:pt x="370677" y="325417"/>
                      <a:pt x="466562" y="258361"/>
                    </a:cubicBezTo>
                    <a:cubicBezTo>
                      <a:pt x="568924" y="186733"/>
                      <a:pt x="689066" y="146093"/>
                      <a:pt x="810859" y="122217"/>
                    </a:cubicBezTo>
                    <a:cubicBezTo>
                      <a:pt x="942050" y="96563"/>
                      <a:pt x="1076162" y="85768"/>
                      <a:pt x="1209131" y="71671"/>
                    </a:cubicBezTo>
                    <a:cubicBezTo>
                      <a:pt x="1353911" y="56304"/>
                      <a:pt x="1498945" y="41699"/>
                      <a:pt x="1643979" y="29634"/>
                    </a:cubicBezTo>
                    <a:cubicBezTo>
                      <a:pt x="1936333" y="5377"/>
                      <a:pt x="2229957" y="-7958"/>
                      <a:pt x="2523200" y="5123"/>
                    </a:cubicBezTo>
                    <a:cubicBezTo>
                      <a:pt x="2523454" y="5123"/>
                      <a:pt x="2523581" y="5123"/>
                      <a:pt x="2523708" y="5123"/>
                    </a:cubicBezTo>
                    <a:cubicBezTo>
                      <a:pt x="2805394" y="3599"/>
                      <a:pt x="16474062" y="36365"/>
                      <a:pt x="30733130" y="65575"/>
                    </a:cubicBezTo>
                    <a:cubicBezTo>
                      <a:pt x="30854797" y="78275"/>
                      <a:pt x="30976715" y="88816"/>
                      <a:pt x="31098890" y="94150"/>
                    </a:cubicBezTo>
                    <a:cubicBezTo>
                      <a:pt x="31199346" y="98468"/>
                      <a:pt x="31300565" y="102278"/>
                      <a:pt x="31400897" y="92626"/>
                    </a:cubicBezTo>
                    <a:cubicBezTo>
                      <a:pt x="31594826" y="73703"/>
                      <a:pt x="31788628" y="42588"/>
                      <a:pt x="31984080" y="51351"/>
                    </a:cubicBezTo>
                    <a:cubicBezTo>
                      <a:pt x="32078062" y="55542"/>
                      <a:pt x="32171278" y="69512"/>
                      <a:pt x="32257384" y="108882"/>
                    </a:cubicBezTo>
                    <a:cubicBezTo>
                      <a:pt x="32345903" y="149395"/>
                      <a:pt x="32421976" y="214546"/>
                      <a:pt x="32482301" y="290365"/>
                    </a:cubicBezTo>
                    <a:cubicBezTo>
                      <a:pt x="32611840" y="453052"/>
                      <a:pt x="32681057" y="656633"/>
                      <a:pt x="32727538" y="856912"/>
                    </a:cubicBezTo>
                    <a:cubicBezTo>
                      <a:pt x="32758017" y="990262"/>
                      <a:pt x="32779737" y="1125263"/>
                      <a:pt x="32794468" y="1261280"/>
                    </a:cubicBezTo>
                    <a:cubicBezTo>
                      <a:pt x="32855810" y="1829224"/>
                      <a:pt x="32792815" y="2400089"/>
                      <a:pt x="32776180" y="7774412"/>
                    </a:cubicBezTo>
                    <a:cubicBezTo>
                      <a:pt x="32772243" y="11428960"/>
                      <a:pt x="32771226" y="11571073"/>
                      <a:pt x="32774782" y="11713313"/>
                    </a:cubicBezTo>
                    <a:close/>
                  </a:path>
                </a:pathLst>
              </a:custGeom>
              <a:solidFill>
                <a:srgbClr val="F6CE91"/>
              </a:solidFill>
            </p:spPr>
            <p:txBody>
              <a:bodyPr/>
              <a:lstStyle/>
              <a:p>
                <a:endParaRPr lang="en-PH"/>
              </a:p>
            </p:txBody>
          </p:sp>
        </p:grpSp>
      </p:grpSp>
      <p:sp>
        <p:nvSpPr>
          <p:cNvPr id="6" name="Freeform 6"/>
          <p:cNvSpPr/>
          <p:nvPr/>
        </p:nvSpPr>
        <p:spPr>
          <a:xfrm>
            <a:off x="1154491" y="2669532"/>
            <a:ext cx="650566" cy="642286"/>
          </a:xfrm>
          <a:custGeom>
            <a:avLst/>
            <a:gdLst/>
            <a:ahLst/>
            <a:cxnLst/>
            <a:rect l="l" t="t" r="r" b="b"/>
            <a:pathLst>
              <a:path w="650566" h="642286">
                <a:moveTo>
                  <a:pt x="0" y="0"/>
                </a:moveTo>
                <a:lnTo>
                  <a:pt x="650565" y="0"/>
                </a:lnTo>
                <a:lnTo>
                  <a:pt x="650565" y="642286"/>
                </a:lnTo>
                <a:lnTo>
                  <a:pt x="0" y="64228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PH"/>
          </a:p>
        </p:txBody>
      </p:sp>
      <p:sp>
        <p:nvSpPr>
          <p:cNvPr id="7" name="Freeform 7"/>
          <p:cNvSpPr/>
          <p:nvPr/>
        </p:nvSpPr>
        <p:spPr>
          <a:xfrm>
            <a:off x="1154491" y="4822357"/>
            <a:ext cx="650566" cy="642286"/>
          </a:xfrm>
          <a:custGeom>
            <a:avLst/>
            <a:gdLst/>
            <a:ahLst/>
            <a:cxnLst/>
            <a:rect l="l" t="t" r="r" b="b"/>
            <a:pathLst>
              <a:path w="650566" h="642286">
                <a:moveTo>
                  <a:pt x="0" y="0"/>
                </a:moveTo>
                <a:lnTo>
                  <a:pt x="650565" y="0"/>
                </a:lnTo>
                <a:lnTo>
                  <a:pt x="650565" y="642286"/>
                </a:lnTo>
                <a:lnTo>
                  <a:pt x="0" y="64228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PH"/>
          </a:p>
        </p:txBody>
      </p:sp>
      <p:sp>
        <p:nvSpPr>
          <p:cNvPr id="8" name="Freeform 8"/>
          <p:cNvSpPr/>
          <p:nvPr/>
        </p:nvSpPr>
        <p:spPr>
          <a:xfrm rot="82013" flipH="1">
            <a:off x="-1796639" y="416861"/>
            <a:ext cx="5650677" cy="544520"/>
          </a:xfrm>
          <a:custGeom>
            <a:avLst/>
            <a:gdLst/>
            <a:ahLst/>
            <a:cxnLst/>
            <a:rect l="l" t="t" r="r" b="b"/>
            <a:pathLst>
              <a:path w="5650677" h="544520">
                <a:moveTo>
                  <a:pt x="5650678" y="0"/>
                </a:moveTo>
                <a:lnTo>
                  <a:pt x="0" y="0"/>
                </a:lnTo>
                <a:lnTo>
                  <a:pt x="0" y="544520"/>
                </a:lnTo>
                <a:lnTo>
                  <a:pt x="5650678" y="544520"/>
                </a:lnTo>
                <a:lnTo>
                  <a:pt x="5650678"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PH"/>
          </a:p>
        </p:txBody>
      </p:sp>
      <p:sp>
        <p:nvSpPr>
          <p:cNvPr id="9" name="TextBox 9"/>
          <p:cNvSpPr txBox="1"/>
          <p:nvPr/>
        </p:nvSpPr>
        <p:spPr>
          <a:xfrm>
            <a:off x="2200429" y="4384207"/>
            <a:ext cx="14876371" cy="1847850"/>
          </a:xfrm>
          <a:prstGeom prst="rect">
            <a:avLst/>
          </a:prstGeom>
        </p:spPr>
        <p:txBody>
          <a:bodyPr lIns="0" tIns="0" rIns="0" bIns="0" rtlCol="0" anchor="t">
            <a:spAutoFit/>
          </a:bodyPr>
          <a:lstStyle/>
          <a:p>
            <a:pPr algn="l">
              <a:lnSpc>
                <a:spcPts val="7500"/>
              </a:lnSpc>
            </a:pPr>
            <a:r>
              <a:rPr lang="en-US" sz="3000">
                <a:solidFill>
                  <a:srgbClr val="284D15"/>
                </a:solidFill>
                <a:latin typeface="Futura"/>
                <a:ea typeface="Futura"/>
                <a:cs typeface="Futura"/>
                <a:sym typeface="Futura"/>
              </a:rPr>
              <a:t>This program is a C# Windows Forms Matrix Inverse Calculator that computes the inverse of a 3×3 matrix and solves linear equations using the inverse matrix method.</a:t>
            </a:r>
          </a:p>
        </p:txBody>
      </p:sp>
      <p:sp>
        <p:nvSpPr>
          <p:cNvPr id="10" name="Freeform 10"/>
          <p:cNvSpPr/>
          <p:nvPr/>
        </p:nvSpPr>
        <p:spPr>
          <a:xfrm>
            <a:off x="1154491" y="6770364"/>
            <a:ext cx="650566" cy="642286"/>
          </a:xfrm>
          <a:custGeom>
            <a:avLst/>
            <a:gdLst/>
            <a:ahLst/>
            <a:cxnLst/>
            <a:rect l="l" t="t" r="r" b="b"/>
            <a:pathLst>
              <a:path w="650566" h="642286">
                <a:moveTo>
                  <a:pt x="0" y="0"/>
                </a:moveTo>
                <a:lnTo>
                  <a:pt x="650565" y="0"/>
                </a:lnTo>
                <a:lnTo>
                  <a:pt x="650565" y="642286"/>
                </a:lnTo>
                <a:lnTo>
                  <a:pt x="0" y="64228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PH"/>
          </a:p>
        </p:txBody>
      </p:sp>
      <p:sp>
        <p:nvSpPr>
          <p:cNvPr id="11" name="Freeform 11"/>
          <p:cNvSpPr/>
          <p:nvPr/>
        </p:nvSpPr>
        <p:spPr>
          <a:xfrm>
            <a:off x="16727732" y="5220498"/>
            <a:ext cx="349068" cy="321143"/>
          </a:xfrm>
          <a:custGeom>
            <a:avLst/>
            <a:gdLst/>
            <a:ahLst/>
            <a:cxnLst/>
            <a:rect l="l" t="t" r="r" b="b"/>
            <a:pathLst>
              <a:path w="349068" h="321143">
                <a:moveTo>
                  <a:pt x="0" y="0"/>
                </a:moveTo>
                <a:lnTo>
                  <a:pt x="349068" y="0"/>
                </a:lnTo>
                <a:lnTo>
                  <a:pt x="349068" y="321143"/>
                </a:lnTo>
                <a:lnTo>
                  <a:pt x="0" y="321143"/>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PH"/>
          </a:p>
        </p:txBody>
      </p:sp>
      <p:sp>
        <p:nvSpPr>
          <p:cNvPr id="12" name="Freeform 12"/>
          <p:cNvSpPr/>
          <p:nvPr/>
        </p:nvSpPr>
        <p:spPr>
          <a:xfrm>
            <a:off x="16902266" y="5541641"/>
            <a:ext cx="582537" cy="535934"/>
          </a:xfrm>
          <a:custGeom>
            <a:avLst/>
            <a:gdLst/>
            <a:ahLst/>
            <a:cxnLst/>
            <a:rect l="l" t="t" r="r" b="b"/>
            <a:pathLst>
              <a:path w="582537" h="535934">
                <a:moveTo>
                  <a:pt x="0" y="0"/>
                </a:moveTo>
                <a:lnTo>
                  <a:pt x="582537" y="0"/>
                </a:lnTo>
                <a:lnTo>
                  <a:pt x="582537" y="535934"/>
                </a:lnTo>
                <a:lnTo>
                  <a:pt x="0" y="535934"/>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PH"/>
          </a:p>
        </p:txBody>
      </p:sp>
      <p:sp>
        <p:nvSpPr>
          <p:cNvPr id="13" name="Freeform 13"/>
          <p:cNvSpPr/>
          <p:nvPr/>
        </p:nvSpPr>
        <p:spPr>
          <a:xfrm rot="2700000">
            <a:off x="-2733215" y="7823270"/>
            <a:ext cx="7315200" cy="3910307"/>
          </a:xfrm>
          <a:custGeom>
            <a:avLst/>
            <a:gdLst/>
            <a:ahLst/>
            <a:cxnLst/>
            <a:rect l="l" t="t" r="r" b="b"/>
            <a:pathLst>
              <a:path w="7315200" h="3910307">
                <a:moveTo>
                  <a:pt x="0" y="0"/>
                </a:moveTo>
                <a:lnTo>
                  <a:pt x="7315200" y="0"/>
                </a:lnTo>
                <a:lnTo>
                  <a:pt x="7315200" y="3910307"/>
                </a:lnTo>
                <a:lnTo>
                  <a:pt x="0" y="3910307"/>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PH"/>
          </a:p>
        </p:txBody>
      </p:sp>
      <p:sp>
        <p:nvSpPr>
          <p:cNvPr id="14" name="Freeform 14"/>
          <p:cNvSpPr/>
          <p:nvPr/>
        </p:nvSpPr>
        <p:spPr>
          <a:xfrm rot="7466155">
            <a:off x="15446615" y="-582383"/>
            <a:ext cx="3493839" cy="4114800"/>
          </a:xfrm>
          <a:custGeom>
            <a:avLst/>
            <a:gdLst/>
            <a:ahLst/>
            <a:cxnLst/>
            <a:rect l="l" t="t" r="r" b="b"/>
            <a:pathLst>
              <a:path w="3493839" h="4114800">
                <a:moveTo>
                  <a:pt x="0" y="0"/>
                </a:moveTo>
                <a:lnTo>
                  <a:pt x="3493839" y="0"/>
                </a:lnTo>
                <a:lnTo>
                  <a:pt x="3493839" y="4114800"/>
                </a:lnTo>
                <a:lnTo>
                  <a:pt x="0" y="4114800"/>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PH"/>
          </a:p>
        </p:txBody>
      </p:sp>
      <p:sp>
        <p:nvSpPr>
          <p:cNvPr id="15" name="TextBox 15"/>
          <p:cNvSpPr txBox="1"/>
          <p:nvPr/>
        </p:nvSpPr>
        <p:spPr>
          <a:xfrm>
            <a:off x="2200429" y="6332214"/>
            <a:ext cx="14876371" cy="1847850"/>
          </a:xfrm>
          <a:prstGeom prst="rect">
            <a:avLst/>
          </a:prstGeom>
        </p:spPr>
        <p:txBody>
          <a:bodyPr lIns="0" tIns="0" rIns="0" bIns="0" rtlCol="0" anchor="t">
            <a:spAutoFit/>
          </a:bodyPr>
          <a:lstStyle/>
          <a:p>
            <a:pPr algn="l">
              <a:lnSpc>
                <a:spcPts val="7500"/>
              </a:lnSpc>
            </a:pPr>
            <a:r>
              <a:rPr lang="en-US" sz="3000">
                <a:solidFill>
                  <a:srgbClr val="284D15"/>
                </a:solidFill>
                <a:latin typeface="Futura"/>
                <a:ea typeface="Futura"/>
                <a:cs typeface="Futura"/>
                <a:sym typeface="Futura"/>
              </a:rPr>
              <a:t>It allows users to input values (including fractions), checks if the matrix is invertible using the determinant, and prevents invalid calculations.</a:t>
            </a:r>
          </a:p>
        </p:txBody>
      </p:sp>
      <p:sp>
        <p:nvSpPr>
          <p:cNvPr id="16" name="Freeform 16"/>
          <p:cNvSpPr/>
          <p:nvPr/>
        </p:nvSpPr>
        <p:spPr>
          <a:xfrm rot="-1504436">
            <a:off x="15113634" y="8610068"/>
            <a:ext cx="2941707" cy="476022"/>
          </a:xfrm>
          <a:custGeom>
            <a:avLst/>
            <a:gdLst/>
            <a:ahLst/>
            <a:cxnLst/>
            <a:rect l="l" t="t" r="r" b="b"/>
            <a:pathLst>
              <a:path w="2941707" h="476022">
                <a:moveTo>
                  <a:pt x="0" y="0"/>
                </a:moveTo>
                <a:lnTo>
                  <a:pt x="2941707" y="0"/>
                </a:lnTo>
                <a:lnTo>
                  <a:pt x="2941707" y="476022"/>
                </a:lnTo>
                <a:lnTo>
                  <a:pt x="0" y="476022"/>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n-PH"/>
          </a:p>
        </p:txBody>
      </p:sp>
      <p:sp>
        <p:nvSpPr>
          <p:cNvPr id="17" name="TextBox 17"/>
          <p:cNvSpPr txBox="1"/>
          <p:nvPr/>
        </p:nvSpPr>
        <p:spPr>
          <a:xfrm>
            <a:off x="2200429" y="2231382"/>
            <a:ext cx="14876371" cy="1847850"/>
          </a:xfrm>
          <a:prstGeom prst="rect">
            <a:avLst/>
          </a:prstGeom>
        </p:spPr>
        <p:txBody>
          <a:bodyPr lIns="0" tIns="0" rIns="0" bIns="0" rtlCol="0" anchor="t">
            <a:spAutoFit/>
          </a:bodyPr>
          <a:lstStyle/>
          <a:p>
            <a:pPr algn="l">
              <a:lnSpc>
                <a:spcPts val="7500"/>
              </a:lnSpc>
            </a:pPr>
            <a:r>
              <a:rPr lang="en-US" sz="3000">
                <a:solidFill>
                  <a:srgbClr val="284D15"/>
                </a:solidFill>
                <a:latin typeface="Futura"/>
                <a:ea typeface="Futura"/>
                <a:cs typeface="Futura"/>
                <a:sym typeface="Futura"/>
              </a:rPr>
              <a:t>An inverse matrix is a matrix that, when multiplied by the original matrix, results in the identity matrix.</a:t>
            </a:r>
          </a:p>
        </p:txBody>
      </p:sp>
      <p:sp>
        <p:nvSpPr>
          <p:cNvPr id="18" name="TextBox 18"/>
          <p:cNvSpPr txBox="1"/>
          <p:nvPr/>
        </p:nvSpPr>
        <p:spPr>
          <a:xfrm>
            <a:off x="2778289" y="217223"/>
            <a:ext cx="12373089" cy="1349375"/>
          </a:xfrm>
          <a:prstGeom prst="rect">
            <a:avLst/>
          </a:prstGeom>
        </p:spPr>
        <p:txBody>
          <a:bodyPr lIns="0" tIns="0" rIns="0" bIns="0" rtlCol="0" anchor="t">
            <a:spAutoFit/>
          </a:bodyPr>
          <a:lstStyle/>
          <a:p>
            <a:pPr marL="0" lvl="0" indent="0" algn="ctr">
              <a:lnSpc>
                <a:spcPts val="10450"/>
              </a:lnSpc>
              <a:spcBef>
                <a:spcPct val="0"/>
              </a:spcBef>
            </a:pPr>
            <a:r>
              <a:rPr lang="en-US" sz="9500" b="1">
                <a:solidFill>
                  <a:srgbClr val="026983"/>
                </a:solidFill>
                <a:latin typeface="Eczar Semi-Bold"/>
                <a:ea typeface="Eczar Semi-Bold"/>
                <a:cs typeface="Eczar Semi-Bold"/>
                <a:sym typeface="Eczar Semi-Bold"/>
              </a:rPr>
              <a:t>Introduction</a:t>
            </a: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BEEE2"/>
        </a:solidFill>
        <a:effectLst/>
      </p:bgPr>
    </p:bg>
    <p:spTree>
      <p:nvGrpSpPr>
        <p:cNvPr id="1" name=""/>
        <p:cNvGrpSpPr/>
        <p:nvPr/>
      </p:nvGrpSpPr>
      <p:grpSpPr>
        <a:xfrm>
          <a:off x="0" y="0"/>
          <a:ext cx="0" cy="0"/>
          <a:chOff x="0" y="0"/>
          <a:chExt cx="0" cy="0"/>
        </a:xfrm>
      </p:grpSpPr>
      <p:sp>
        <p:nvSpPr>
          <p:cNvPr id="2" name="Freeform 2"/>
          <p:cNvSpPr/>
          <p:nvPr/>
        </p:nvSpPr>
        <p:spPr>
          <a:xfrm rot="82013" flipH="1">
            <a:off x="-1796639" y="416861"/>
            <a:ext cx="5650677" cy="544520"/>
          </a:xfrm>
          <a:custGeom>
            <a:avLst/>
            <a:gdLst/>
            <a:ahLst/>
            <a:cxnLst/>
            <a:rect l="l" t="t" r="r" b="b"/>
            <a:pathLst>
              <a:path w="5650677" h="544520">
                <a:moveTo>
                  <a:pt x="5650678" y="0"/>
                </a:moveTo>
                <a:lnTo>
                  <a:pt x="0" y="0"/>
                </a:lnTo>
                <a:lnTo>
                  <a:pt x="0" y="544520"/>
                </a:lnTo>
                <a:lnTo>
                  <a:pt x="5650678" y="544520"/>
                </a:lnTo>
                <a:lnTo>
                  <a:pt x="5650678"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PH"/>
          </a:p>
        </p:txBody>
      </p:sp>
      <p:sp>
        <p:nvSpPr>
          <p:cNvPr id="3" name="Freeform 3"/>
          <p:cNvSpPr/>
          <p:nvPr/>
        </p:nvSpPr>
        <p:spPr>
          <a:xfrm>
            <a:off x="16727732" y="5220498"/>
            <a:ext cx="349068" cy="321143"/>
          </a:xfrm>
          <a:custGeom>
            <a:avLst/>
            <a:gdLst/>
            <a:ahLst/>
            <a:cxnLst/>
            <a:rect l="l" t="t" r="r" b="b"/>
            <a:pathLst>
              <a:path w="349068" h="321143">
                <a:moveTo>
                  <a:pt x="0" y="0"/>
                </a:moveTo>
                <a:lnTo>
                  <a:pt x="349068" y="0"/>
                </a:lnTo>
                <a:lnTo>
                  <a:pt x="349068" y="321143"/>
                </a:lnTo>
                <a:lnTo>
                  <a:pt x="0" y="32114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PH"/>
          </a:p>
        </p:txBody>
      </p:sp>
      <p:sp>
        <p:nvSpPr>
          <p:cNvPr id="4" name="Freeform 4"/>
          <p:cNvSpPr/>
          <p:nvPr/>
        </p:nvSpPr>
        <p:spPr>
          <a:xfrm>
            <a:off x="16902266" y="5541641"/>
            <a:ext cx="582537" cy="535934"/>
          </a:xfrm>
          <a:custGeom>
            <a:avLst/>
            <a:gdLst/>
            <a:ahLst/>
            <a:cxnLst/>
            <a:rect l="l" t="t" r="r" b="b"/>
            <a:pathLst>
              <a:path w="582537" h="535934">
                <a:moveTo>
                  <a:pt x="0" y="0"/>
                </a:moveTo>
                <a:lnTo>
                  <a:pt x="582537" y="0"/>
                </a:lnTo>
                <a:lnTo>
                  <a:pt x="582537" y="535934"/>
                </a:lnTo>
                <a:lnTo>
                  <a:pt x="0" y="53593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PH"/>
          </a:p>
        </p:txBody>
      </p:sp>
      <p:sp>
        <p:nvSpPr>
          <p:cNvPr id="5" name="Freeform 5"/>
          <p:cNvSpPr/>
          <p:nvPr/>
        </p:nvSpPr>
        <p:spPr>
          <a:xfrm rot="2700000">
            <a:off x="-2733215" y="7823270"/>
            <a:ext cx="7315200" cy="3910307"/>
          </a:xfrm>
          <a:custGeom>
            <a:avLst/>
            <a:gdLst/>
            <a:ahLst/>
            <a:cxnLst/>
            <a:rect l="l" t="t" r="r" b="b"/>
            <a:pathLst>
              <a:path w="7315200" h="3910307">
                <a:moveTo>
                  <a:pt x="0" y="0"/>
                </a:moveTo>
                <a:lnTo>
                  <a:pt x="7315200" y="0"/>
                </a:lnTo>
                <a:lnTo>
                  <a:pt x="7315200" y="3910307"/>
                </a:lnTo>
                <a:lnTo>
                  <a:pt x="0" y="3910307"/>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PH"/>
          </a:p>
        </p:txBody>
      </p:sp>
      <p:sp>
        <p:nvSpPr>
          <p:cNvPr id="6" name="Freeform 6"/>
          <p:cNvSpPr/>
          <p:nvPr/>
        </p:nvSpPr>
        <p:spPr>
          <a:xfrm rot="7466155">
            <a:off x="15446615" y="-582383"/>
            <a:ext cx="3493839" cy="4114800"/>
          </a:xfrm>
          <a:custGeom>
            <a:avLst/>
            <a:gdLst/>
            <a:ahLst/>
            <a:cxnLst/>
            <a:rect l="l" t="t" r="r" b="b"/>
            <a:pathLst>
              <a:path w="3493839" h="4114800">
                <a:moveTo>
                  <a:pt x="0" y="0"/>
                </a:moveTo>
                <a:lnTo>
                  <a:pt x="3493839" y="0"/>
                </a:lnTo>
                <a:lnTo>
                  <a:pt x="3493839" y="4114800"/>
                </a:lnTo>
                <a:lnTo>
                  <a:pt x="0" y="4114800"/>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PH"/>
          </a:p>
        </p:txBody>
      </p:sp>
      <p:sp>
        <p:nvSpPr>
          <p:cNvPr id="7" name="Freeform 7"/>
          <p:cNvSpPr/>
          <p:nvPr/>
        </p:nvSpPr>
        <p:spPr>
          <a:xfrm rot="-1504436">
            <a:off x="15113634" y="8610068"/>
            <a:ext cx="2941707" cy="476022"/>
          </a:xfrm>
          <a:custGeom>
            <a:avLst/>
            <a:gdLst/>
            <a:ahLst/>
            <a:cxnLst/>
            <a:rect l="l" t="t" r="r" b="b"/>
            <a:pathLst>
              <a:path w="2941707" h="476022">
                <a:moveTo>
                  <a:pt x="0" y="0"/>
                </a:moveTo>
                <a:lnTo>
                  <a:pt x="2941707" y="0"/>
                </a:lnTo>
                <a:lnTo>
                  <a:pt x="2941707" y="476022"/>
                </a:lnTo>
                <a:lnTo>
                  <a:pt x="0" y="476022"/>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PH"/>
          </a:p>
        </p:txBody>
      </p:sp>
      <p:sp>
        <p:nvSpPr>
          <p:cNvPr id="8" name="Freeform 8"/>
          <p:cNvSpPr/>
          <p:nvPr/>
        </p:nvSpPr>
        <p:spPr>
          <a:xfrm>
            <a:off x="3364018" y="1591588"/>
            <a:ext cx="11559964" cy="7666712"/>
          </a:xfrm>
          <a:custGeom>
            <a:avLst/>
            <a:gdLst/>
            <a:ahLst/>
            <a:cxnLst/>
            <a:rect l="l" t="t" r="r" b="b"/>
            <a:pathLst>
              <a:path w="11559964" h="7666712">
                <a:moveTo>
                  <a:pt x="0" y="0"/>
                </a:moveTo>
                <a:lnTo>
                  <a:pt x="11559964" y="0"/>
                </a:lnTo>
                <a:lnTo>
                  <a:pt x="11559964" y="7666712"/>
                </a:lnTo>
                <a:lnTo>
                  <a:pt x="0" y="7666712"/>
                </a:lnTo>
                <a:lnTo>
                  <a:pt x="0" y="0"/>
                </a:lnTo>
                <a:close/>
              </a:path>
            </a:pathLst>
          </a:custGeom>
          <a:blipFill>
            <a:blip r:embed="rId8"/>
            <a:stretch>
              <a:fillRect/>
            </a:stretch>
          </a:blipFill>
        </p:spPr>
        <p:txBody>
          <a:bodyPr/>
          <a:lstStyle/>
          <a:p>
            <a:endParaRPr lang="en-PH"/>
          </a:p>
        </p:txBody>
      </p:sp>
      <p:sp>
        <p:nvSpPr>
          <p:cNvPr id="9" name="TextBox 9"/>
          <p:cNvSpPr txBox="1"/>
          <p:nvPr/>
        </p:nvSpPr>
        <p:spPr>
          <a:xfrm>
            <a:off x="2778289" y="217223"/>
            <a:ext cx="12373089" cy="1349375"/>
          </a:xfrm>
          <a:prstGeom prst="rect">
            <a:avLst/>
          </a:prstGeom>
        </p:spPr>
        <p:txBody>
          <a:bodyPr lIns="0" tIns="0" rIns="0" bIns="0" rtlCol="0" anchor="t">
            <a:spAutoFit/>
          </a:bodyPr>
          <a:lstStyle/>
          <a:p>
            <a:pPr marL="0" lvl="0" indent="0" algn="ctr">
              <a:lnSpc>
                <a:spcPts val="10450"/>
              </a:lnSpc>
              <a:spcBef>
                <a:spcPct val="0"/>
              </a:spcBef>
            </a:pPr>
            <a:r>
              <a:rPr lang="en-US" sz="9500" b="1">
                <a:solidFill>
                  <a:srgbClr val="026983"/>
                </a:solidFill>
                <a:latin typeface="Eczar Semi-Bold"/>
                <a:ea typeface="Eczar Semi-Bold"/>
                <a:cs typeface="Eczar Semi-Bold"/>
                <a:sym typeface="Eczar Semi-Bold"/>
              </a:rPr>
              <a:t>Full view of Program</a:t>
            </a: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BEEE2"/>
        </a:solidFill>
        <a:effectLst/>
      </p:bgPr>
    </p:bg>
    <p:spTree>
      <p:nvGrpSpPr>
        <p:cNvPr id="1" name=""/>
        <p:cNvGrpSpPr/>
        <p:nvPr/>
      </p:nvGrpSpPr>
      <p:grpSpPr>
        <a:xfrm>
          <a:off x="0" y="0"/>
          <a:ext cx="0" cy="0"/>
          <a:chOff x="0" y="0"/>
          <a:chExt cx="0" cy="0"/>
        </a:xfrm>
      </p:grpSpPr>
      <p:grpSp>
        <p:nvGrpSpPr>
          <p:cNvPr id="2" name="Group 2"/>
          <p:cNvGrpSpPr/>
          <p:nvPr/>
        </p:nvGrpSpPr>
        <p:grpSpPr>
          <a:xfrm>
            <a:off x="8664361" y="1028700"/>
            <a:ext cx="8881462" cy="8483553"/>
            <a:chOff x="0" y="0"/>
            <a:chExt cx="11841949" cy="11311405"/>
          </a:xfrm>
        </p:grpSpPr>
        <p:sp>
          <p:nvSpPr>
            <p:cNvPr id="3" name="Freeform 3"/>
            <p:cNvSpPr/>
            <p:nvPr/>
          </p:nvSpPr>
          <p:spPr>
            <a:xfrm flipH="1">
              <a:off x="302893" y="10056839"/>
              <a:ext cx="11500185" cy="1254566"/>
            </a:xfrm>
            <a:custGeom>
              <a:avLst/>
              <a:gdLst/>
              <a:ahLst/>
              <a:cxnLst/>
              <a:rect l="l" t="t" r="r" b="b"/>
              <a:pathLst>
                <a:path w="11500185" h="1254566">
                  <a:moveTo>
                    <a:pt x="11500186" y="0"/>
                  </a:moveTo>
                  <a:lnTo>
                    <a:pt x="0" y="0"/>
                  </a:lnTo>
                  <a:lnTo>
                    <a:pt x="0" y="1254566"/>
                  </a:lnTo>
                  <a:lnTo>
                    <a:pt x="11500186" y="1254566"/>
                  </a:lnTo>
                  <a:lnTo>
                    <a:pt x="11500186"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PH"/>
            </a:p>
          </p:txBody>
        </p:sp>
        <p:sp>
          <p:nvSpPr>
            <p:cNvPr id="4" name="Freeform 4"/>
            <p:cNvSpPr/>
            <p:nvPr/>
          </p:nvSpPr>
          <p:spPr>
            <a:xfrm>
              <a:off x="4587520" y="117584"/>
              <a:ext cx="7254429" cy="10652960"/>
            </a:xfrm>
            <a:custGeom>
              <a:avLst/>
              <a:gdLst/>
              <a:ahLst/>
              <a:cxnLst/>
              <a:rect l="l" t="t" r="r" b="b"/>
              <a:pathLst>
                <a:path w="7254429" h="10652960">
                  <a:moveTo>
                    <a:pt x="0" y="0"/>
                  </a:moveTo>
                  <a:lnTo>
                    <a:pt x="7254429" y="0"/>
                  </a:lnTo>
                  <a:lnTo>
                    <a:pt x="7254429" y="10652960"/>
                  </a:lnTo>
                  <a:lnTo>
                    <a:pt x="0" y="10652960"/>
                  </a:lnTo>
                  <a:lnTo>
                    <a:pt x="0" y="0"/>
                  </a:lnTo>
                  <a:close/>
                </a:path>
              </a:pathLst>
            </a:custGeom>
            <a:blipFill>
              <a:blip>
                <a:extLst>
                  <a:ext uri="{96DAC541-7B7A-43D3-8B79-37D633B846F1}">
                    <asvg:svgBlip xmlns:asvg="http://schemas.microsoft.com/office/drawing/2016/SVG/main" r:embed="rId3"/>
                  </a:ext>
                </a:extLst>
              </a:blip>
              <a:stretch>
                <a:fillRect l="-1144" t="-11092"/>
              </a:stretch>
            </a:blipFill>
          </p:spPr>
          <p:txBody>
            <a:bodyPr/>
            <a:lstStyle/>
            <a:p>
              <a:endParaRPr lang="en-PH"/>
            </a:p>
          </p:txBody>
        </p:sp>
        <p:grpSp>
          <p:nvGrpSpPr>
            <p:cNvPr id="5" name="Group 5"/>
            <p:cNvGrpSpPr/>
            <p:nvPr/>
          </p:nvGrpSpPr>
          <p:grpSpPr>
            <a:xfrm>
              <a:off x="0" y="0"/>
              <a:ext cx="11496752" cy="10999575"/>
              <a:chOff x="0" y="0"/>
              <a:chExt cx="18103532" cy="17320644"/>
            </a:xfrm>
          </p:grpSpPr>
          <p:sp>
            <p:nvSpPr>
              <p:cNvPr id="6" name="Freeform 6"/>
              <p:cNvSpPr/>
              <p:nvPr/>
            </p:nvSpPr>
            <p:spPr>
              <a:xfrm>
                <a:off x="178" y="165"/>
                <a:ext cx="18103383" cy="17320718"/>
              </a:xfrm>
              <a:custGeom>
                <a:avLst/>
                <a:gdLst/>
                <a:ahLst/>
                <a:cxnLst/>
                <a:rect l="l" t="t" r="r" b="b"/>
                <a:pathLst>
                  <a:path w="18103383" h="17320718">
                    <a:moveTo>
                      <a:pt x="18093956" y="13788877"/>
                    </a:moveTo>
                    <a:cubicBezTo>
                      <a:pt x="18079478" y="16126551"/>
                      <a:pt x="18051919" y="16239455"/>
                      <a:pt x="18007723" y="16343341"/>
                    </a:cubicBezTo>
                    <a:cubicBezTo>
                      <a:pt x="17975084" y="16419923"/>
                      <a:pt x="17929999" y="16491297"/>
                      <a:pt x="17884406" y="16560765"/>
                    </a:cubicBezTo>
                    <a:cubicBezTo>
                      <a:pt x="17785091" y="16712275"/>
                      <a:pt x="17677141" y="16873312"/>
                      <a:pt x="17531854" y="16984437"/>
                    </a:cubicBezTo>
                    <a:cubicBezTo>
                      <a:pt x="17348338" y="17124646"/>
                      <a:pt x="17119104" y="17192082"/>
                      <a:pt x="16893679" y="17226118"/>
                    </a:cubicBezTo>
                    <a:cubicBezTo>
                      <a:pt x="16632314" y="17265615"/>
                      <a:pt x="16367645" y="17262694"/>
                      <a:pt x="16103993" y="17268663"/>
                    </a:cubicBezTo>
                    <a:cubicBezTo>
                      <a:pt x="15833483" y="17274886"/>
                      <a:pt x="15563354" y="17290761"/>
                      <a:pt x="15293225" y="17305366"/>
                    </a:cubicBezTo>
                    <a:cubicBezTo>
                      <a:pt x="2562555" y="17334323"/>
                      <a:pt x="1805381" y="17324923"/>
                      <a:pt x="1272743" y="17254693"/>
                    </a:cubicBezTo>
                    <a:cubicBezTo>
                      <a:pt x="821766" y="17195257"/>
                      <a:pt x="567766" y="17084894"/>
                      <a:pt x="266903" y="16723072"/>
                    </a:cubicBezTo>
                    <a:cubicBezTo>
                      <a:pt x="131394" y="16560130"/>
                      <a:pt x="34874" y="16363661"/>
                      <a:pt x="8966" y="16152079"/>
                    </a:cubicBezTo>
                    <a:cubicBezTo>
                      <a:pt x="-19736" y="8177781"/>
                      <a:pt x="20015" y="1073620"/>
                      <a:pt x="134823" y="872071"/>
                    </a:cubicBezTo>
                    <a:cubicBezTo>
                      <a:pt x="252552" y="665188"/>
                      <a:pt x="343611" y="502882"/>
                      <a:pt x="541858" y="367373"/>
                    </a:cubicBezTo>
                    <a:cubicBezTo>
                      <a:pt x="743661" y="229324"/>
                      <a:pt x="1074369" y="208115"/>
                      <a:pt x="1309573" y="147917"/>
                    </a:cubicBezTo>
                    <a:cubicBezTo>
                      <a:pt x="1373962" y="131407"/>
                      <a:pt x="1438859" y="116802"/>
                      <a:pt x="1504010" y="103721"/>
                    </a:cubicBezTo>
                    <a:cubicBezTo>
                      <a:pt x="1569034" y="90767"/>
                      <a:pt x="1753057" y="47968"/>
                      <a:pt x="1819224" y="43523"/>
                    </a:cubicBezTo>
                    <a:cubicBezTo>
                      <a:pt x="2115007" y="23711"/>
                      <a:pt x="2041347" y="39967"/>
                      <a:pt x="2169998" y="25362"/>
                    </a:cubicBezTo>
                    <a:cubicBezTo>
                      <a:pt x="2436317" y="-5118"/>
                      <a:pt x="2685999" y="8344"/>
                      <a:pt x="9293335" y="978"/>
                    </a:cubicBezTo>
                    <a:cubicBezTo>
                      <a:pt x="15425560" y="-6642"/>
                      <a:pt x="15751061" y="32982"/>
                      <a:pt x="16026904" y="25362"/>
                    </a:cubicBezTo>
                    <a:cubicBezTo>
                      <a:pt x="16290556" y="18123"/>
                      <a:pt x="16635362" y="36030"/>
                      <a:pt x="16897997" y="66129"/>
                    </a:cubicBezTo>
                    <a:cubicBezTo>
                      <a:pt x="17333099" y="115786"/>
                      <a:pt x="17580113" y="154521"/>
                      <a:pt x="17831193" y="533616"/>
                    </a:cubicBezTo>
                    <a:cubicBezTo>
                      <a:pt x="17895201" y="631660"/>
                      <a:pt x="17952478" y="734022"/>
                      <a:pt x="17998198" y="841972"/>
                    </a:cubicBezTo>
                    <a:cubicBezTo>
                      <a:pt x="18084431" y="1046315"/>
                      <a:pt x="18122658" y="1267295"/>
                      <a:pt x="18093956" y="13788877"/>
                    </a:cubicBezTo>
                    <a:close/>
                  </a:path>
                </a:pathLst>
              </a:custGeom>
              <a:solidFill>
                <a:srgbClr val="F6CE91"/>
              </a:solidFill>
            </p:spPr>
            <p:txBody>
              <a:bodyPr/>
              <a:lstStyle/>
              <a:p>
                <a:endParaRPr lang="en-PH"/>
              </a:p>
            </p:txBody>
          </p:sp>
        </p:grpSp>
      </p:grpSp>
      <p:sp>
        <p:nvSpPr>
          <p:cNvPr id="7" name="Freeform 7"/>
          <p:cNvSpPr/>
          <p:nvPr/>
        </p:nvSpPr>
        <p:spPr>
          <a:xfrm>
            <a:off x="9444654" y="2689946"/>
            <a:ext cx="7320876" cy="4907109"/>
          </a:xfrm>
          <a:custGeom>
            <a:avLst/>
            <a:gdLst/>
            <a:ahLst/>
            <a:cxnLst/>
            <a:rect l="l" t="t" r="r" b="b"/>
            <a:pathLst>
              <a:path w="7320876" h="4907109">
                <a:moveTo>
                  <a:pt x="0" y="0"/>
                </a:moveTo>
                <a:lnTo>
                  <a:pt x="7320876" y="0"/>
                </a:lnTo>
                <a:lnTo>
                  <a:pt x="7320876" y="4907108"/>
                </a:lnTo>
                <a:lnTo>
                  <a:pt x="0" y="4907108"/>
                </a:lnTo>
                <a:lnTo>
                  <a:pt x="0" y="0"/>
                </a:lnTo>
                <a:close/>
              </a:path>
            </a:pathLst>
          </a:custGeom>
          <a:blipFill>
            <a:blip r:embed="rId4"/>
            <a:stretch>
              <a:fillRect/>
            </a:stretch>
          </a:blipFill>
        </p:spPr>
        <p:txBody>
          <a:bodyPr/>
          <a:lstStyle/>
          <a:p>
            <a:endParaRPr lang="en-PH"/>
          </a:p>
        </p:txBody>
      </p:sp>
      <p:sp>
        <p:nvSpPr>
          <p:cNvPr id="8" name="Freeform 8"/>
          <p:cNvSpPr/>
          <p:nvPr/>
        </p:nvSpPr>
        <p:spPr>
          <a:xfrm rot="-940021">
            <a:off x="-59318" y="8232797"/>
            <a:ext cx="2503082" cy="2558912"/>
          </a:xfrm>
          <a:custGeom>
            <a:avLst/>
            <a:gdLst/>
            <a:ahLst/>
            <a:cxnLst/>
            <a:rect l="l" t="t" r="r" b="b"/>
            <a:pathLst>
              <a:path w="2503082" h="2558912">
                <a:moveTo>
                  <a:pt x="0" y="0"/>
                </a:moveTo>
                <a:lnTo>
                  <a:pt x="2503082" y="0"/>
                </a:lnTo>
                <a:lnTo>
                  <a:pt x="2503082" y="2558913"/>
                </a:lnTo>
                <a:lnTo>
                  <a:pt x="0" y="2558913"/>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PH"/>
          </a:p>
        </p:txBody>
      </p:sp>
      <p:sp>
        <p:nvSpPr>
          <p:cNvPr id="9" name="Freeform 9"/>
          <p:cNvSpPr/>
          <p:nvPr/>
        </p:nvSpPr>
        <p:spPr>
          <a:xfrm rot="1541174">
            <a:off x="14127354" y="809478"/>
            <a:ext cx="3977475" cy="1063071"/>
          </a:xfrm>
          <a:custGeom>
            <a:avLst/>
            <a:gdLst/>
            <a:ahLst/>
            <a:cxnLst/>
            <a:rect l="l" t="t" r="r" b="b"/>
            <a:pathLst>
              <a:path w="3977475" h="1063071">
                <a:moveTo>
                  <a:pt x="0" y="0"/>
                </a:moveTo>
                <a:lnTo>
                  <a:pt x="3977476" y="0"/>
                </a:lnTo>
                <a:lnTo>
                  <a:pt x="3977476" y="1063071"/>
                </a:lnTo>
                <a:lnTo>
                  <a:pt x="0" y="1063071"/>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PH"/>
          </a:p>
        </p:txBody>
      </p:sp>
      <p:sp>
        <p:nvSpPr>
          <p:cNvPr id="10" name="Freeform 10"/>
          <p:cNvSpPr/>
          <p:nvPr/>
        </p:nvSpPr>
        <p:spPr>
          <a:xfrm rot="-5400000">
            <a:off x="15320320" y="7284522"/>
            <a:ext cx="3002478" cy="3002478"/>
          </a:xfrm>
          <a:custGeom>
            <a:avLst/>
            <a:gdLst/>
            <a:ahLst/>
            <a:cxnLst/>
            <a:rect l="l" t="t" r="r" b="b"/>
            <a:pathLst>
              <a:path w="3002478" h="3002478">
                <a:moveTo>
                  <a:pt x="0" y="0"/>
                </a:moveTo>
                <a:lnTo>
                  <a:pt x="3002477" y="0"/>
                </a:lnTo>
                <a:lnTo>
                  <a:pt x="3002477" y="3002478"/>
                </a:lnTo>
                <a:lnTo>
                  <a:pt x="0" y="3002478"/>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PH"/>
          </a:p>
        </p:txBody>
      </p:sp>
      <p:sp>
        <p:nvSpPr>
          <p:cNvPr id="11" name="TextBox 11"/>
          <p:cNvSpPr txBox="1"/>
          <p:nvPr/>
        </p:nvSpPr>
        <p:spPr>
          <a:xfrm>
            <a:off x="1028700" y="2270765"/>
            <a:ext cx="7188774" cy="1346835"/>
          </a:xfrm>
          <a:prstGeom prst="rect">
            <a:avLst/>
          </a:prstGeom>
        </p:spPr>
        <p:txBody>
          <a:bodyPr lIns="0" tIns="0" rIns="0" bIns="0" rtlCol="0" anchor="t">
            <a:spAutoFit/>
          </a:bodyPr>
          <a:lstStyle/>
          <a:p>
            <a:pPr marL="0" lvl="0" indent="0" algn="l">
              <a:lnSpc>
                <a:spcPts val="5279"/>
              </a:lnSpc>
              <a:spcBef>
                <a:spcPct val="0"/>
              </a:spcBef>
            </a:pPr>
            <a:r>
              <a:rPr lang="en-US" sz="4799" b="1">
                <a:solidFill>
                  <a:srgbClr val="026983"/>
                </a:solidFill>
                <a:latin typeface="Eczar Semi-Bold"/>
                <a:ea typeface="Eczar Semi-Bold"/>
                <a:cs typeface="Eczar Semi-Bold"/>
                <a:sym typeface="Eczar Semi-Bold"/>
              </a:rPr>
              <a:t>The process of the Program</a:t>
            </a:r>
          </a:p>
        </p:txBody>
      </p:sp>
      <p:sp>
        <p:nvSpPr>
          <p:cNvPr id="12" name="TextBox 12"/>
          <p:cNvSpPr txBox="1"/>
          <p:nvPr/>
        </p:nvSpPr>
        <p:spPr>
          <a:xfrm>
            <a:off x="601507" y="3885859"/>
            <a:ext cx="7410175" cy="2673985"/>
          </a:xfrm>
          <a:prstGeom prst="rect">
            <a:avLst/>
          </a:prstGeom>
        </p:spPr>
        <p:txBody>
          <a:bodyPr lIns="0" tIns="0" rIns="0" bIns="0" rtlCol="0" anchor="t">
            <a:spAutoFit/>
          </a:bodyPr>
          <a:lstStyle/>
          <a:p>
            <a:pPr marL="690881" lvl="1" indent="-345440" algn="ctr">
              <a:lnSpc>
                <a:spcPts val="4160"/>
              </a:lnSpc>
              <a:spcBef>
                <a:spcPct val="0"/>
              </a:spcBef>
              <a:buFont typeface="Arial"/>
              <a:buChar char="•"/>
            </a:pPr>
            <a:r>
              <a:rPr lang="en-US" sz="3200" b="1">
                <a:solidFill>
                  <a:srgbClr val="284D15"/>
                </a:solidFill>
                <a:latin typeface="Futura Bold"/>
                <a:ea typeface="Futura Bold"/>
                <a:cs typeface="Futura Bold"/>
                <a:sym typeface="Futura Bold"/>
              </a:rPr>
              <a:t>The user first inputs the desired value within the matrix to turn into an inverse matrix. The program is capable of knowing that it’ll solve a 3x3 or a 2x2 matrix.</a:t>
            </a:r>
          </a:p>
        </p:txBody>
      </p:sp>
      <p:sp>
        <p:nvSpPr>
          <p:cNvPr id="13" name="Freeform 13"/>
          <p:cNvSpPr/>
          <p:nvPr/>
        </p:nvSpPr>
        <p:spPr>
          <a:xfrm rot="5493002">
            <a:off x="58573" y="40059"/>
            <a:ext cx="3002478" cy="3002478"/>
          </a:xfrm>
          <a:custGeom>
            <a:avLst/>
            <a:gdLst/>
            <a:ahLst/>
            <a:cxnLst/>
            <a:rect l="l" t="t" r="r" b="b"/>
            <a:pathLst>
              <a:path w="3002478" h="3002478">
                <a:moveTo>
                  <a:pt x="0" y="0"/>
                </a:moveTo>
                <a:lnTo>
                  <a:pt x="3002478" y="0"/>
                </a:lnTo>
                <a:lnTo>
                  <a:pt x="3002478" y="3002478"/>
                </a:lnTo>
                <a:lnTo>
                  <a:pt x="0" y="3002478"/>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PH"/>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BEEE2"/>
        </a:solidFill>
        <a:effectLst/>
      </p:bgPr>
    </p:bg>
    <p:spTree>
      <p:nvGrpSpPr>
        <p:cNvPr id="1" name=""/>
        <p:cNvGrpSpPr/>
        <p:nvPr/>
      </p:nvGrpSpPr>
      <p:grpSpPr>
        <a:xfrm>
          <a:off x="0" y="0"/>
          <a:ext cx="0" cy="0"/>
          <a:chOff x="0" y="0"/>
          <a:chExt cx="0" cy="0"/>
        </a:xfrm>
      </p:grpSpPr>
      <p:grpSp>
        <p:nvGrpSpPr>
          <p:cNvPr id="2" name="Group 2"/>
          <p:cNvGrpSpPr/>
          <p:nvPr/>
        </p:nvGrpSpPr>
        <p:grpSpPr>
          <a:xfrm>
            <a:off x="8664361" y="1028700"/>
            <a:ext cx="8881462" cy="8483553"/>
            <a:chOff x="0" y="0"/>
            <a:chExt cx="11841949" cy="11311405"/>
          </a:xfrm>
        </p:grpSpPr>
        <p:sp>
          <p:nvSpPr>
            <p:cNvPr id="3" name="Freeform 3"/>
            <p:cNvSpPr/>
            <p:nvPr/>
          </p:nvSpPr>
          <p:spPr>
            <a:xfrm flipH="1">
              <a:off x="302893" y="10056839"/>
              <a:ext cx="11500185" cy="1254566"/>
            </a:xfrm>
            <a:custGeom>
              <a:avLst/>
              <a:gdLst/>
              <a:ahLst/>
              <a:cxnLst/>
              <a:rect l="l" t="t" r="r" b="b"/>
              <a:pathLst>
                <a:path w="11500185" h="1254566">
                  <a:moveTo>
                    <a:pt x="11500186" y="0"/>
                  </a:moveTo>
                  <a:lnTo>
                    <a:pt x="0" y="0"/>
                  </a:lnTo>
                  <a:lnTo>
                    <a:pt x="0" y="1254566"/>
                  </a:lnTo>
                  <a:lnTo>
                    <a:pt x="11500186" y="1254566"/>
                  </a:lnTo>
                  <a:lnTo>
                    <a:pt x="11500186"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PH"/>
            </a:p>
          </p:txBody>
        </p:sp>
        <p:sp>
          <p:nvSpPr>
            <p:cNvPr id="4" name="Freeform 4"/>
            <p:cNvSpPr/>
            <p:nvPr/>
          </p:nvSpPr>
          <p:spPr>
            <a:xfrm>
              <a:off x="4587520" y="117584"/>
              <a:ext cx="7254429" cy="10652960"/>
            </a:xfrm>
            <a:custGeom>
              <a:avLst/>
              <a:gdLst/>
              <a:ahLst/>
              <a:cxnLst/>
              <a:rect l="l" t="t" r="r" b="b"/>
              <a:pathLst>
                <a:path w="7254429" h="10652960">
                  <a:moveTo>
                    <a:pt x="0" y="0"/>
                  </a:moveTo>
                  <a:lnTo>
                    <a:pt x="7254429" y="0"/>
                  </a:lnTo>
                  <a:lnTo>
                    <a:pt x="7254429" y="10652960"/>
                  </a:lnTo>
                  <a:lnTo>
                    <a:pt x="0" y="10652960"/>
                  </a:lnTo>
                  <a:lnTo>
                    <a:pt x="0" y="0"/>
                  </a:lnTo>
                  <a:close/>
                </a:path>
              </a:pathLst>
            </a:custGeom>
            <a:blipFill>
              <a:blip>
                <a:extLst>
                  <a:ext uri="{96DAC541-7B7A-43D3-8B79-37D633B846F1}">
                    <asvg:svgBlip xmlns:asvg="http://schemas.microsoft.com/office/drawing/2016/SVG/main" r:embed="rId3"/>
                  </a:ext>
                </a:extLst>
              </a:blip>
              <a:stretch>
                <a:fillRect l="-1144" t="-11092"/>
              </a:stretch>
            </a:blipFill>
          </p:spPr>
          <p:txBody>
            <a:bodyPr/>
            <a:lstStyle/>
            <a:p>
              <a:endParaRPr lang="en-PH"/>
            </a:p>
          </p:txBody>
        </p:sp>
        <p:grpSp>
          <p:nvGrpSpPr>
            <p:cNvPr id="5" name="Group 5"/>
            <p:cNvGrpSpPr/>
            <p:nvPr/>
          </p:nvGrpSpPr>
          <p:grpSpPr>
            <a:xfrm>
              <a:off x="0" y="0"/>
              <a:ext cx="11496752" cy="10999575"/>
              <a:chOff x="0" y="0"/>
              <a:chExt cx="18103532" cy="17320644"/>
            </a:xfrm>
          </p:grpSpPr>
          <p:sp>
            <p:nvSpPr>
              <p:cNvPr id="6" name="Freeform 6"/>
              <p:cNvSpPr/>
              <p:nvPr/>
            </p:nvSpPr>
            <p:spPr>
              <a:xfrm>
                <a:off x="178" y="165"/>
                <a:ext cx="18103383" cy="17320718"/>
              </a:xfrm>
              <a:custGeom>
                <a:avLst/>
                <a:gdLst/>
                <a:ahLst/>
                <a:cxnLst/>
                <a:rect l="l" t="t" r="r" b="b"/>
                <a:pathLst>
                  <a:path w="18103383" h="17320718">
                    <a:moveTo>
                      <a:pt x="18093956" y="13788877"/>
                    </a:moveTo>
                    <a:cubicBezTo>
                      <a:pt x="18079478" y="16126551"/>
                      <a:pt x="18051919" y="16239455"/>
                      <a:pt x="18007723" y="16343341"/>
                    </a:cubicBezTo>
                    <a:cubicBezTo>
                      <a:pt x="17975084" y="16419923"/>
                      <a:pt x="17929999" y="16491297"/>
                      <a:pt x="17884406" y="16560765"/>
                    </a:cubicBezTo>
                    <a:cubicBezTo>
                      <a:pt x="17785091" y="16712275"/>
                      <a:pt x="17677141" y="16873312"/>
                      <a:pt x="17531854" y="16984437"/>
                    </a:cubicBezTo>
                    <a:cubicBezTo>
                      <a:pt x="17348338" y="17124646"/>
                      <a:pt x="17119104" y="17192082"/>
                      <a:pt x="16893679" y="17226118"/>
                    </a:cubicBezTo>
                    <a:cubicBezTo>
                      <a:pt x="16632314" y="17265615"/>
                      <a:pt x="16367645" y="17262694"/>
                      <a:pt x="16103993" y="17268663"/>
                    </a:cubicBezTo>
                    <a:cubicBezTo>
                      <a:pt x="15833483" y="17274886"/>
                      <a:pt x="15563354" y="17290761"/>
                      <a:pt x="15293225" y="17305366"/>
                    </a:cubicBezTo>
                    <a:cubicBezTo>
                      <a:pt x="2562555" y="17334323"/>
                      <a:pt x="1805381" y="17324923"/>
                      <a:pt x="1272743" y="17254693"/>
                    </a:cubicBezTo>
                    <a:cubicBezTo>
                      <a:pt x="821766" y="17195257"/>
                      <a:pt x="567766" y="17084894"/>
                      <a:pt x="266903" y="16723072"/>
                    </a:cubicBezTo>
                    <a:cubicBezTo>
                      <a:pt x="131394" y="16560130"/>
                      <a:pt x="34874" y="16363661"/>
                      <a:pt x="8966" y="16152079"/>
                    </a:cubicBezTo>
                    <a:cubicBezTo>
                      <a:pt x="-19736" y="8177781"/>
                      <a:pt x="20015" y="1073620"/>
                      <a:pt x="134823" y="872071"/>
                    </a:cubicBezTo>
                    <a:cubicBezTo>
                      <a:pt x="252552" y="665188"/>
                      <a:pt x="343611" y="502882"/>
                      <a:pt x="541858" y="367373"/>
                    </a:cubicBezTo>
                    <a:cubicBezTo>
                      <a:pt x="743661" y="229324"/>
                      <a:pt x="1074369" y="208115"/>
                      <a:pt x="1309573" y="147917"/>
                    </a:cubicBezTo>
                    <a:cubicBezTo>
                      <a:pt x="1373962" y="131407"/>
                      <a:pt x="1438859" y="116802"/>
                      <a:pt x="1504010" y="103721"/>
                    </a:cubicBezTo>
                    <a:cubicBezTo>
                      <a:pt x="1569034" y="90767"/>
                      <a:pt x="1753057" y="47968"/>
                      <a:pt x="1819224" y="43523"/>
                    </a:cubicBezTo>
                    <a:cubicBezTo>
                      <a:pt x="2115007" y="23711"/>
                      <a:pt x="2041347" y="39967"/>
                      <a:pt x="2169998" y="25362"/>
                    </a:cubicBezTo>
                    <a:cubicBezTo>
                      <a:pt x="2436317" y="-5118"/>
                      <a:pt x="2685999" y="8344"/>
                      <a:pt x="9293335" y="978"/>
                    </a:cubicBezTo>
                    <a:cubicBezTo>
                      <a:pt x="15425560" y="-6642"/>
                      <a:pt x="15751061" y="32982"/>
                      <a:pt x="16026904" y="25362"/>
                    </a:cubicBezTo>
                    <a:cubicBezTo>
                      <a:pt x="16290556" y="18123"/>
                      <a:pt x="16635362" y="36030"/>
                      <a:pt x="16897997" y="66129"/>
                    </a:cubicBezTo>
                    <a:cubicBezTo>
                      <a:pt x="17333099" y="115786"/>
                      <a:pt x="17580113" y="154521"/>
                      <a:pt x="17831193" y="533616"/>
                    </a:cubicBezTo>
                    <a:cubicBezTo>
                      <a:pt x="17895201" y="631660"/>
                      <a:pt x="17952478" y="734022"/>
                      <a:pt x="17998198" y="841972"/>
                    </a:cubicBezTo>
                    <a:cubicBezTo>
                      <a:pt x="18084431" y="1046315"/>
                      <a:pt x="18122658" y="1267295"/>
                      <a:pt x="18093956" y="13788877"/>
                    </a:cubicBezTo>
                    <a:close/>
                  </a:path>
                </a:pathLst>
              </a:custGeom>
              <a:solidFill>
                <a:srgbClr val="F6CE91"/>
              </a:solidFill>
            </p:spPr>
            <p:txBody>
              <a:bodyPr/>
              <a:lstStyle/>
              <a:p>
                <a:endParaRPr lang="en-PH"/>
              </a:p>
            </p:txBody>
          </p:sp>
        </p:grpSp>
      </p:grpSp>
      <p:sp>
        <p:nvSpPr>
          <p:cNvPr id="7" name="Freeform 7"/>
          <p:cNvSpPr/>
          <p:nvPr/>
        </p:nvSpPr>
        <p:spPr>
          <a:xfrm rot="-940021">
            <a:off x="-59318" y="8232797"/>
            <a:ext cx="2503082" cy="2558912"/>
          </a:xfrm>
          <a:custGeom>
            <a:avLst/>
            <a:gdLst/>
            <a:ahLst/>
            <a:cxnLst/>
            <a:rect l="l" t="t" r="r" b="b"/>
            <a:pathLst>
              <a:path w="2503082" h="2558912">
                <a:moveTo>
                  <a:pt x="0" y="0"/>
                </a:moveTo>
                <a:lnTo>
                  <a:pt x="2503082" y="0"/>
                </a:lnTo>
                <a:lnTo>
                  <a:pt x="2503082" y="2558913"/>
                </a:lnTo>
                <a:lnTo>
                  <a:pt x="0" y="255891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PH"/>
          </a:p>
        </p:txBody>
      </p:sp>
      <p:sp>
        <p:nvSpPr>
          <p:cNvPr id="8" name="Freeform 8"/>
          <p:cNvSpPr/>
          <p:nvPr/>
        </p:nvSpPr>
        <p:spPr>
          <a:xfrm rot="1541174">
            <a:off x="14127354" y="809478"/>
            <a:ext cx="3977475" cy="1063071"/>
          </a:xfrm>
          <a:custGeom>
            <a:avLst/>
            <a:gdLst/>
            <a:ahLst/>
            <a:cxnLst/>
            <a:rect l="l" t="t" r="r" b="b"/>
            <a:pathLst>
              <a:path w="3977475" h="1063071">
                <a:moveTo>
                  <a:pt x="0" y="0"/>
                </a:moveTo>
                <a:lnTo>
                  <a:pt x="3977476" y="0"/>
                </a:lnTo>
                <a:lnTo>
                  <a:pt x="3977476" y="1063071"/>
                </a:lnTo>
                <a:lnTo>
                  <a:pt x="0" y="106307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PH"/>
          </a:p>
        </p:txBody>
      </p:sp>
      <p:sp>
        <p:nvSpPr>
          <p:cNvPr id="9" name="Freeform 9"/>
          <p:cNvSpPr/>
          <p:nvPr/>
        </p:nvSpPr>
        <p:spPr>
          <a:xfrm rot="-5400000">
            <a:off x="15320320" y="7284522"/>
            <a:ext cx="3002478" cy="3002478"/>
          </a:xfrm>
          <a:custGeom>
            <a:avLst/>
            <a:gdLst/>
            <a:ahLst/>
            <a:cxnLst/>
            <a:rect l="l" t="t" r="r" b="b"/>
            <a:pathLst>
              <a:path w="3002478" h="3002478">
                <a:moveTo>
                  <a:pt x="0" y="0"/>
                </a:moveTo>
                <a:lnTo>
                  <a:pt x="3002477" y="0"/>
                </a:lnTo>
                <a:lnTo>
                  <a:pt x="3002477" y="3002478"/>
                </a:lnTo>
                <a:lnTo>
                  <a:pt x="0" y="3002478"/>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PH"/>
          </a:p>
        </p:txBody>
      </p:sp>
      <p:sp>
        <p:nvSpPr>
          <p:cNvPr id="10" name="Freeform 10"/>
          <p:cNvSpPr/>
          <p:nvPr/>
        </p:nvSpPr>
        <p:spPr>
          <a:xfrm rot="5493002">
            <a:off x="58573" y="40059"/>
            <a:ext cx="3002478" cy="3002478"/>
          </a:xfrm>
          <a:custGeom>
            <a:avLst/>
            <a:gdLst/>
            <a:ahLst/>
            <a:cxnLst/>
            <a:rect l="l" t="t" r="r" b="b"/>
            <a:pathLst>
              <a:path w="3002478" h="3002478">
                <a:moveTo>
                  <a:pt x="0" y="0"/>
                </a:moveTo>
                <a:lnTo>
                  <a:pt x="3002478" y="0"/>
                </a:lnTo>
                <a:lnTo>
                  <a:pt x="3002478" y="3002478"/>
                </a:lnTo>
                <a:lnTo>
                  <a:pt x="0" y="3002478"/>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PH"/>
          </a:p>
        </p:txBody>
      </p:sp>
      <p:sp>
        <p:nvSpPr>
          <p:cNvPr id="11" name="Freeform 11"/>
          <p:cNvSpPr/>
          <p:nvPr/>
        </p:nvSpPr>
        <p:spPr>
          <a:xfrm>
            <a:off x="9804168" y="3562148"/>
            <a:ext cx="6601847" cy="2842253"/>
          </a:xfrm>
          <a:custGeom>
            <a:avLst/>
            <a:gdLst/>
            <a:ahLst/>
            <a:cxnLst/>
            <a:rect l="l" t="t" r="r" b="b"/>
            <a:pathLst>
              <a:path w="6601847" h="2842253">
                <a:moveTo>
                  <a:pt x="0" y="0"/>
                </a:moveTo>
                <a:lnTo>
                  <a:pt x="6601847" y="0"/>
                </a:lnTo>
                <a:lnTo>
                  <a:pt x="6601847" y="2842253"/>
                </a:lnTo>
                <a:lnTo>
                  <a:pt x="0" y="2842253"/>
                </a:lnTo>
                <a:lnTo>
                  <a:pt x="0" y="0"/>
                </a:lnTo>
                <a:close/>
              </a:path>
            </a:pathLst>
          </a:custGeom>
          <a:blipFill>
            <a:blip r:embed="rId7"/>
            <a:stretch>
              <a:fillRect/>
            </a:stretch>
          </a:blipFill>
        </p:spPr>
        <p:txBody>
          <a:bodyPr/>
          <a:lstStyle/>
          <a:p>
            <a:endParaRPr lang="en-PH"/>
          </a:p>
        </p:txBody>
      </p:sp>
      <p:sp>
        <p:nvSpPr>
          <p:cNvPr id="12" name="TextBox 12"/>
          <p:cNvSpPr txBox="1"/>
          <p:nvPr/>
        </p:nvSpPr>
        <p:spPr>
          <a:xfrm>
            <a:off x="601507" y="3885859"/>
            <a:ext cx="7410175" cy="3721735"/>
          </a:xfrm>
          <a:prstGeom prst="rect">
            <a:avLst/>
          </a:prstGeom>
        </p:spPr>
        <p:txBody>
          <a:bodyPr lIns="0" tIns="0" rIns="0" bIns="0" rtlCol="0" anchor="t">
            <a:spAutoFit/>
          </a:bodyPr>
          <a:lstStyle/>
          <a:p>
            <a:pPr marL="690881" lvl="1" indent="-345440" algn="ctr">
              <a:lnSpc>
                <a:spcPts val="4160"/>
              </a:lnSpc>
              <a:spcBef>
                <a:spcPct val="0"/>
              </a:spcBef>
              <a:buFont typeface="Arial"/>
              <a:buChar char="•"/>
            </a:pPr>
            <a:r>
              <a:rPr lang="en-US" sz="3200" b="1">
                <a:solidFill>
                  <a:srgbClr val="284D15"/>
                </a:solidFill>
                <a:latin typeface="Futura Bold"/>
                <a:ea typeface="Futura Bold"/>
                <a:cs typeface="Futura Bold"/>
                <a:sym typeface="Futura Bold"/>
              </a:rPr>
              <a:t>The system then processes the values that were used by the user to then solve for an inverse matrix. If no inverse is found, it will tell the user with the text below. If however an inverse matrix was found, the result would be shown below.</a:t>
            </a:r>
          </a:p>
        </p:txBody>
      </p:sp>
      <p:sp>
        <p:nvSpPr>
          <p:cNvPr id="13" name="TextBox 13"/>
          <p:cNvSpPr txBox="1"/>
          <p:nvPr/>
        </p:nvSpPr>
        <p:spPr>
          <a:xfrm>
            <a:off x="1028700" y="2270765"/>
            <a:ext cx="7188774" cy="1346835"/>
          </a:xfrm>
          <a:prstGeom prst="rect">
            <a:avLst/>
          </a:prstGeom>
        </p:spPr>
        <p:txBody>
          <a:bodyPr lIns="0" tIns="0" rIns="0" bIns="0" rtlCol="0" anchor="t">
            <a:spAutoFit/>
          </a:bodyPr>
          <a:lstStyle/>
          <a:p>
            <a:pPr marL="0" lvl="0" indent="0" algn="l">
              <a:lnSpc>
                <a:spcPts val="5279"/>
              </a:lnSpc>
              <a:spcBef>
                <a:spcPct val="0"/>
              </a:spcBef>
            </a:pPr>
            <a:r>
              <a:rPr lang="en-US" sz="4799" b="1">
                <a:solidFill>
                  <a:srgbClr val="026983"/>
                </a:solidFill>
                <a:latin typeface="Eczar Semi-Bold"/>
                <a:ea typeface="Eczar Semi-Bold"/>
                <a:cs typeface="Eczar Semi-Bold"/>
                <a:sym typeface="Eczar Semi-Bold"/>
              </a:rPr>
              <a:t>The process of the Program</a:t>
            </a: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BEEE2"/>
        </a:solidFill>
        <a:effectLst/>
      </p:bgPr>
    </p:bg>
    <p:spTree>
      <p:nvGrpSpPr>
        <p:cNvPr id="1" name=""/>
        <p:cNvGrpSpPr/>
        <p:nvPr/>
      </p:nvGrpSpPr>
      <p:grpSpPr>
        <a:xfrm>
          <a:off x="0" y="0"/>
          <a:ext cx="0" cy="0"/>
          <a:chOff x="0" y="0"/>
          <a:chExt cx="0" cy="0"/>
        </a:xfrm>
      </p:grpSpPr>
      <p:sp>
        <p:nvSpPr>
          <p:cNvPr id="2" name="TextBox 2"/>
          <p:cNvSpPr txBox="1"/>
          <p:nvPr/>
        </p:nvSpPr>
        <p:spPr>
          <a:xfrm>
            <a:off x="1811549" y="4495534"/>
            <a:ext cx="14664902" cy="1391181"/>
          </a:xfrm>
          <a:prstGeom prst="rect">
            <a:avLst/>
          </a:prstGeom>
        </p:spPr>
        <p:txBody>
          <a:bodyPr lIns="0" tIns="0" rIns="0" bIns="0" rtlCol="0" anchor="t">
            <a:spAutoFit/>
          </a:bodyPr>
          <a:lstStyle/>
          <a:p>
            <a:pPr marL="0" lvl="0" indent="0" algn="ctr">
              <a:lnSpc>
                <a:spcPts val="10771"/>
              </a:lnSpc>
              <a:spcBef>
                <a:spcPct val="0"/>
              </a:spcBef>
            </a:pPr>
            <a:r>
              <a:rPr lang="en-US" sz="9791" b="1">
                <a:solidFill>
                  <a:srgbClr val="026983"/>
                </a:solidFill>
                <a:latin typeface="Eczar Semi-Bold"/>
                <a:ea typeface="Eczar Semi-Bold"/>
                <a:cs typeface="Eczar Semi-Bold"/>
                <a:sym typeface="Eczar Semi-Bold"/>
              </a:rPr>
              <a:t>End of Presentation</a:t>
            </a:r>
          </a:p>
        </p:txBody>
      </p:sp>
    </p:spTree>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180</Words>
  <Application>Microsoft Office PowerPoint</Application>
  <PresentationFormat>Custom</PresentationFormat>
  <Paragraphs>13</Paragraphs>
  <Slides>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vt:i4>
      </vt:variant>
    </vt:vector>
  </HeadingPairs>
  <TitlesOfParts>
    <vt:vector size="13" baseType="lpstr">
      <vt:lpstr>Calibri</vt:lpstr>
      <vt:lpstr>Futura</vt:lpstr>
      <vt:lpstr>Futura Bold</vt:lpstr>
      <vt:lpstr>Eczar Semi-Bold</vt:lpstr>
      <vt:lpstr>Eczar 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Inverse Matrix</dc:title>
  <cp:lastModifiedBy>Sabir Nour</cp:lastModifiedBy>
  <cp:revision>3</cp:revision>
  <dcterms:created xsi:type="dcterms:W3CDTF">2006-08-16T00:00:00Z</dcterms:created>
  <dcterms:modified xsi:type="dcterms:W3CDTF">2026-05-29T15:04:53Z</dcterms:modified>
  <dc:identifier>DAG8mEakQ6Y</dc:identifier>
</cp:coreProperties>
</file>